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4158" cy="30275784"/>
  <p:notesSz cx="30275784" cy="2138415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384158" cy="30275784"/>
          </a:xfrm>
          <a:prstGeom prst="rect">
            <a:avLst/>
          </a:prstGeom>
          <a:solidFill>
            <a:srgbClr val="F6FAFD"/>
          </a:solidFill>
          <a:ln w="12700">
            <a:solidFill>
              <a:srgbClr val="F6FAF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1384158" cy="2834640"/>
          </a:xfrm>
          <a:prstGeom prst="rect">
            <a:avLst/>
          </a:prstGeom>
          <a:solidFill>
            <a:srgbClr val="061A2D"/>
          </a:solidFill>
          <a:ln w="12700">
            <a:solidFill>
              <a:srgbClr val="061A2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2834640"/>
            <a:ext cx="21384158" cy="9144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>
                <a:alpha val="0"/>
              </a:srgbClr>
            </a:solidFill>
            <a:prstDash val="solid"/>
          </a:ln>
        </p:spPr>
      </p:sp>
      <p:pic>
        <p:nvPicPr>
          <p:cNvPr id="5" name="Image 0" descr="/mnt/data/poster_assets/ppt/media/image1.png">    </p:cNvPr>
          <p:cNvPicPr>
            <a:picLocks noChangeAspect="1"/>
          </p:cNvPicPr>
          <p:nvPr/>
        </p:nvPicPr>
        <p:blipFill>
          <a:blip r:embed="rId1"/>
          <a:srcRect l="0" r="50912" t="8000" b="14000"/>
          <a:stretch/>
        </p:blipFill>
        <p:spPr>
          <a:xfrm>
            <a:off x="502920" y="457200"/>
            <a:ext cx="1078992" cy="1143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91056" y="557784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D7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ULUSAL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HİDROJEN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ZİRVESİ</a:t>
            </a:r>
            <a:endParaRPr lang="en-US" sz="1500" dirty="0"/>
          </a:p>
        </p:txBody>
      </p:sp>
      <p:pic>
        <p:nvPicPr>
          <p:cNvPr id="7" name="Image 1" descr="/mnt/data/poster_assets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1960" y="390980"/>
            <a:ext cx="2468880" cy="1037696"/>
          </a:xfrm>
          <a:prstGeom prst="rect">
            <a:avLst/>
          </a:prstGeom>
        </p:spPr>
      </p:pic>
      <p:pic>
        <p:nvPicPr>
          <p:cNvPr id="8" name="Image 2" descr="/mnt/data/poster_assets/ppt/media/image2.png">    </p:cNvPr>
          <p:cNvPicPr>
            <a:picLocks noChangeAspect="1"/>
          </p:cNvPicPr>
          <p:nvPr/>
        </p:nvPicPr>
        <p:blipFill>
          <a:blip r:embed="rId3"/>
          <a:srcRect l="0" r="0" t="20259" b="20259"/>
          <a:stretch/>
        </p:blipFill>
        <p:spPr>
          <a:xfrm>
            <a:off x="18288000" y="384048"/>
            <a:ext cx="2651760" cy="10515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063240" y="420624"/>
            <a:ext cx="1225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TÜRKİYE HİDROJEN ZİRVESİ 2026</a:t>
            </a:r>
            <a:endParaRPr lang="en-US" sz="4600" dirty="0"/>
          </a:p>
        </p:txBody>
      </p:sp>
      <p:sp>
        <p:nvSpPr>
          <p:cNvPr id="10" name="Text 5"/>
          <p:cNvSpPr/>
          <p:nvPr/>
        </p:nvSpPr>
        <p:spPr>
          <a:xfrm>
            <a:off x="3063240" y="120700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D7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Akademik ve Endüstriyel Poster Sunum Şablonu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3063240" y="1709928"/>
            <a:ext cx="10698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15-16 EKİM 2026  ·  ATO CONGRESIUM  ·  ANKARA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3063240" y="2139696"/>
            <a:ext cx="1161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B7DC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DİKEY  ·  Türkçe / English  ·  Minimum 28 pt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94360" y="3246120"/>
            <a:ext cx="20208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E3E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68680" y="3429000"/>
            <a:ext cx="1965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POSTER BAŞLIĞI: ÇALIŞMANIN KISA, NET VE TEKNİK BAŞLIĞI</a:t>
            </a:r>
            <a:endParaRPr lang="en-US" sz="4400" dirty="0"/>
          </a:p>
        </p:txBody>
      </p:sp>
      <p:sp>
        <p:nvSpPr>
          <p:cNvPr id="15" name="Text 10"/>
          <p:cNvSpPr/>
          <p:nvPr/>
        </p:nvSpPr>
        <p:spPr>
          <a:xfrm>
            <a:off x="1234440" y="4251960"/>
            <a:ext cx="1883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Yazar Adları¹,²  ·  Kurum / Şirket  ·  Bölüm / Birim  ·  Şehir, Ülke  ·  e-posta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1234440" y="4700016"/>
            <a:ext cx="1883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F6D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Anahtar Kelimeler: hidrojen üretimi · elektroliz · yakıt hücreleri · depolama · sürdürülebilirlik · TRL</a:t>
            </a:r>
            <a:endParaRPr lang="en-US" sz="2300" dirty="0"/>
          </a:p>
        </p:txBody>
      </p:sp>
      <p:sp>
        <p:nvSpPr>
          <p:cNvPr id="17" name="Shape 12"/>
          <p:cNvSpPr/>
          <p:nvPr/>
        </p:nvSpPr>
        <p:spPr>
          <a:xfrm>
            <a:off x="7272833" y="5715000"/>
            <a:ext cx="0" cy="21717000"/>
          </a:xfrm>
          <a:prstGeom prst="line">
            <a:avLst/>
          </a:prstGeom>
          <a:noFill/>
          <a:ln w="12700">
            <a:solidFill>
              <a:srgbClr val="D2E8F1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4111326" y="5715000"/>
            <a:ext cx="0" cy="21717000"/>
          </a:xfrm>
          <a:prstGeom prst="line">
            <a:avLst/>
          </a:prstGeom>
          <a:noFill/>
          <a:ln w="12700">
            <a:solidFill>
              <a:srgbClr val="D2E8F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94360" y="5715000"/>
            <a:ext cx="6518453" cy="530352"/>
          </a:xfrm>
          <a:prstGeom prst="rect">
            <a:avLst/>
          </a:prstGeom>
          <a:solidFill>
            <a:srgbClr val="0B2842"/>
          </a:solidFill>
          <a:ln>
            <a:solidFill>
              <a:srgbClr val="0B2842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GİRİŞ VE MOTİVASYON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594360" y="6300216"/>
            <a:ext cx="6518453" cy="311810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Çalışmanın bağlamını ve hidrojen teknolojileriyle ilişkisini 3-4 cümlede özetleyin.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Problemi net kurun: hangi teknik, ekonomik veya çevresel boşluğu hedefliyorsunuz?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Literatürdeki mevcut yaklaşımı ve bu çalışmanın neden gerekli olduğunu belirtin.</a:t>
            </a:r>
            <a:endParaRPr lang="en-US" sz="2800" dirty="0"/>
          </a:p>
        </p:txBody>
      </p:sp>
      <p:sp>
        <p:nvSpPr>
          <p:cNvPr id="21" name="Text 16"/>
          <p:cNvSpPr/>
          <p:nvPr/>
        </p:nvSpPr>
        <p:spPr>
          <a:xfrm>
            <a:off x="594360" y="9692640"/>
            <a:ext cx="6518453" cy="530352"/>
          </a:xfrm>
          <a:prstGeom prst="rect">
            <a:avLst/>
          </a:prstGeom>
          <a:solidFill>
            <a:srgbClr val="0066CC"/>
          </a:solidFill>
          <a:ln>
            <a:solidFill>
              <a:srgbClr val="0066CC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AMAÇ &amp; ÖZGÜN KATKI</a:t>
            </a:r>
            <a:endParaRPr lang="en-US" sz="3000" dirty="0"/>
          </a:p>
        </p:txBody>
      </p:sp>
      <p:sp>
        <p:nvSpPr>
          <p:cNvPr id="22" name="Text 17"/>
          <p:cNvSpPr/>
          <p:nvPr/>
        </p:nvSpPr>
        <p:spPr>
          <a:xfrm>
            <a:off x="594360" y="10277856"/>
            <a:ext cx="6518453" cy="403250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Amaç: Bu çalışmanın amacı, … hidrojen teknolojisi kapsamında … performansını değerlendirmektir.</a:t>
            </a:r>
            <a:endParaRPr lang="en-US" sz="2750" dirty="0"/>
          </a:p>
          <a:p>
            <a:pPr indent="0" marL="0">
              <a:buNone/>
            </a:pP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Özgün Katkı: Çalışma, … parametresini / yöntemi / uygulama alanını literatürdeki benzer çalışmalardan farklı biçimde ele almaktadır.</a:t>
            </a:r>
            <a:endParaRPr lang="en-US" sz="2750" dirty="0"/>
          </a:p>
          <a:p>
            <a:pPr indent="0" marL="0">
              <a:buNone/>
            </a:pP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Jüri için tek cümlelik katkı: “Bu posterin en önemli bulgusu …”</a:t>
            </a:r>
            <a:endParaRPr lang="en-US" sz="2750" dirty="0"/>
          </a:p>
        </p:txBody>
      </p:sp>
      <p:sp>
        <p:nvSpPr>
          <p:cNvPr id="23" name="Text 18"/>
          <p:cNvSpPr/>
          <p:nvPr/>
        </p:nvSpPr>
        <p:spPr>
          <a:xfrm>
            <a:off x="594360" y="14584680"/>
            <a:ext cx="6518453" cy="530352"/>
          </a:xfrm>
          <a:prstGeom prst="rect">
            <a:avLst/>
          </a:prstGeom>
          <a:solidFill>
            <a:srgbClr val="0086A8"/>
          </a:solidFill>
          <a:ln>
            <a:solidFill>
              <a:srgbClr val="0086A8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HİDROJEN DEĞER ZİNCİRİ</a:t>
            </a:r>
            <a:endParaRPr lang="en-US" sz="3000" dirty="0"/>
          </a:p>
        </p:txBody>
      </p:sp>
      <p:sp>
        <p:nvSpPr>
          <p:cNvPr id="24" name="Text 19"/>
          <p:cNvSpPr/>
          <p:nvPr/>
        </p:nvSpPr>
        <p:spPr>
          <a:xfrm>
            <a:off x="594360" y="15169896"/>
            <a:ext cx="6518453" cy="1005840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Çalışmanın değer zincirindeki yerini işaretleyin: üretim, depolama, taşıma, kullanım, sistem entegrasyonu veya politika/strateji.</a:t>
            </a:r>
            <a:endParaRPr lang="en-US" sz="2650" dirty="0"/>
          </a:p>
        </p:txBody>
      </p:sp>
      <p:pic>
        <p:nvPicPr>
          <p:cNvPr id="25" name="Image 3" descr="/mnt/data/poster_assets/ppt/media/image5.png">    </p:cNvPr>
          <p:cNvPicPr>
            <a:picLocks noChangeAspect="1"/>
          </p:cNvPicPr>
          <p:nvPr/>
        </p:nvPicPr>
        <p:blipFill>
          <a:blip r:embed="rId4"/>
          <a:srcRect l="0" r="0" t="14771" b="14771"/>
          <a:stretch/>
        </p:blipFill>
        <p:spPr>
          <a:xfrm>
            <a:off x="594360" y="16303752"/>
            <a:ext cx="6518453" cy="24231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94360" y="18772632"/>
            <a:ext cx="65184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Şekil alanı: konuya özel sistem / proses / değer zinciri görseli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594360" y="19339560"/>
            <a:ext cx="6518453" cy="530352"/>
          </a:xfrm>
          <a:prstGeom prst="rect">
            <a:avLst/>
          </a:prstGeom>
          <a:solidFill>
            <a:srgbClr val="0B2842"/>
          </a:solidFill>
          <a:ln>
            <a:solidFill>
              <a:srgbClr val="0B2842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KAPSAM / TRL / VERİ SETİ</a:t>
            </a:r>
            <a:endParaRPr lang="en-US" sz="3000" dirty="0"/>
          </a:p>
        </p:txBody>
      </p:sp>
      <p:sp>
        <p:nvSpPr>
          <p:cNvPr id="28" name="Text 22"/>
          <p:cNvSpPr/>
          <p:nvPr/>
        </p:nvSpPr>
        <p:spPr>
          <a:xfrm>
            <a:off x="594360" y="19924776"/>
            <a:ext cx="6518453" cy="439826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Çalışma Alanı: üretim, depolama, yakıt hücresi, endüstriyel uygulama, sistem entegrasyonu vb.</a:t>
            </a:r>
            <a:endParaRPr lang="en-US" sz="2750" dirty="0"/>
          </a:p>
          <a:p>
            <a:pPr indent="0" marL="0">
              <a:buNone/>
            </a:pP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Teknoloji Hazırlık Seviyesi: TRL 1-3 / TRL 4-6 / TRL 7-9</a:t>
            </a:r>
            <a:endParaRPr lang="en-US" sz="2750" dirty="0"/>
          </a:p>
          <a:p>
            <a:pPr indent="0" marL="0">
              <a:buNone/>
            </a:pP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 Kaynağı: deneysel ölçüm, simülasyon, saha verisi, literatür karşılaştırması veya analitik model.</a:t>
            </a:r>
            <a:endParaRPr lang="en-US" sz="2750" dirty="0"/>
          </a:p>
        </p:txBody>
      </p:sp>
      <p:sp>
        <p:nvSpPr>
          <p:cNvPr id="29" name="Text 23"/>
          <p:cNvSpPr/>
          <p:nvPr/>
        </p:nvSpPr>
        <p:spPr>
          <a:xfrm>
            <a:off x="7432853" y="5715000"/>
            <a:ext cx="6518453" cy="530352"/>
          </a:xfrm>
          <a:prstGeom prst="rect">
            <a:avLst/>
          </a:prstGeom>
          <a:solidFill>
            <a:srgbClr val="0066CC"/>
          </a:solidFill>
          <a:ln>
            <a:solidFill>
              <a:srgbClr val="0066CC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YÖNTEM</a:t>
            </a:r>
            <a:endParaRPr lang="en-US" sz="3000" dirty="0"/>
          </a:p>
        </p:txBody>
      </p:sp>
      <p:sp>
        <p:nvSpPr>
          <p:cNvPr id="30" name="Text 24"/>
          <p:cNvSpPr/>
          <p:nvPr/>
        </p:nvSpPr>
        <p:spPr>
          <a:xfrm>
            <a:off x="7432853" y="6300216"/>
            <a:ext cx="6518453" cy="279806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Yöntemi bir akış olarak anlatın. Ziyaretçi 10 saniyede çalışmanın nasıl yapıldığını anlayabilmeli.</a:t>
            </a:r>
            <a:endParaRPr lang="en-US" sz="2750" dirty="0"/>
          </a:p>
          <a:p>
            <a:pPr indent="0" marL="0">
              <a:buNone/>
            </a:pP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Önerilen sıra: Girdi / hammadde → üretim veya sentez → test / karakterizasyon → veri analizi → değerlendirme.</a:t>
            </a:r>
            <a:endParaRPr lang="en-US" sz="2750" dirty="0"/>
          </a:p>
        </p:txBody>
      </p:sp>
      <p:pic>
        <p:nvPicPr>
          <p:cNvPr id="31" name="Image 4" descr="/mnt/data/poster_assets/ppt/media/image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8998" y="9326880"/>
            <a:ext cx="4866162" cy="3703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432853" y="13075920"/>
            <a:ext cx="65184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Şekil 1. Yöntem akış şeması ve kullanılan test/analiz teknikleri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7432853" y="13670280"/>
            <a:ext cx="6518453" cy="530352"/>
          </a:xfrm>
          <a:prstGeom prst="rect">
            <a:avLst/>
          </a:prstGeom>
          <a:solidFill>
            <a:srgbClr val="0086A8"/>
          </a:solidFill>
          <a:ln>
            <a:solidFill>
              <a:srgbClr val="0086A8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DENEY / MODEL / ANALİZ</a:t>
            </a:r>
            <a:endParaRPr lang="en-US" sz="3000" dirty="0"/>
          </a:p>
        </p:txBody>
      </p:sp>
      <p:sp>
        <p:nvSpPr>
          <p:cNvPr id="34" name="Text 27"/>
          <p:cNvSpPr/>
          <p:nvPr/>
        </p:nvSpPr>
        <p:spPr>
          <a:xfrm>
            <a:off x="7432853" y="14255496"/>
            <a:ext cx="6518453" cy="471830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Kullanılan altyapıyı kısa ve teknik yazın: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Elektroliz testi / yakıt hücresi testi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GC/MS, SEM/TEM, EIS veya diğer analizler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Modelleme varsayımları ve sınır koşulları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Performans metrikleri: verim, güç yoğunluğu, maliyet, emisyon, dayanım vb.</a:t>
            </a:r>
            <a:endParaRPr lang="en-US" sz="2750" dirty="0"/>
          </a:p>
        </p:txBody>
      </p:sp>
      <p:sp>
        <p:nvSpPr>
          <p:cNvPr id="35" name="Text 28"/>
          <p:cNvSpPr/>
          <p:nvPr/>
        </p:nvSpPr>
        <p:spPr>
          <a:xfrm>
            <a:off x="7432853" y="19248120"/>
            <a:ext cx="6518453" cy="530352"/>
          </a:xfrm>
          <a:prstGeom prst="rect">
            <a:avLst/>
          </a:prstGeom>
          <a:solidFill>
            <a:srgbClr val="0B2842"/>
          </a:solidFill>
          <a:ln>
            <a:solidFill>
              <a:srgbClr val="0B2842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SINIRLILIKLAR &amp; BELİRSİZLİKLER</a:t>
            </a:r>
            <a:endParaRPr lang="en-US" sz="3000" dirty="0"/>
          </a:p>
        </p:txBody>
      </p:sp>
      <p:sp>
        <p:nvSpPr>
          <p:cNvPr id="36" name="Text 29"/>
          <p:cNvSpPr/>
          <p:nvPr/>
        </p:nvSpPr>
        <p:spPr>
          <a:xfrm>
            <a:off x="7432853" y="19833336"/>
            <a:ext cx="6518453" cy="448970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Kabul edilebilir belirsizlikleri açıkça belirtin. Örneğin: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Ölçüm belirsizliği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Numune sayısı / veri kapsamı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varsayımları</a:t>
            </a: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Ölçek büyütme riskleri</a:t>
            </a:r>
            <a:endParaRPr lang="en-US" sz="2750" dirty="0"/>
          </a:p>
          <a:p>
            <a:pPr indent="0" marL="0">
              <a:buNone/>
            </a:pP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 bölüm çalışmayı zayıflatmaz; teknik güvenilirliği artırır.</a:t>
            </a:r>
            <a:endParaRPr lang="en-US" sz="2750" dirty="0"/>
          </a:p>
        </p:txBody>
      </p:sp>
      <p:sp>
        <p:nvSpPr>
          <p:cNvPr id="37" name="Text 30"/>
          <p:cNvSpPr/>
          <p:nvPr/>
        </p:nvSpPr>
        <p:spPr>
          <a:xfrm>
            <a:off x="14271346" y="5715000"/>
            <a:ext cx="6518453" cy="530352"/>
          </a:xfrm>
          <a:prstGeom prst="rect">
            <a:avLst/>
          </a:prstGeom>
          <a:solidFill>
            <a:srgbClr val="0B2842"/>
          </a:solidFill>
          <a:ln>
            <a:solidFill>
              <a:srgbClr val="0B2842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BULGULAR &amp; TARTIŞMA</a:t>
            </a:r>
            <a:endParaRPr lang="en-US" sz="3000" dirty="0"/>
          </a:p>
        </p:txBody>
      </p:sp>
      <p:sp>
        <p:nvSpPr>
          <p:cNvPr id="38" name="Text 31"/>
          <p:cNvSpPr/>
          <p:nvPr/>
        </p:nvSpPr>
        <p:spPr>
          <a:xfrm>
            <a:off x="14271346" y="6300216"/>
            <a:ext cx="6518453" cy="1051560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sonuçları büyük grafik / tablo ile gösterin. Metni azaltın; veriyi büyütün. Literatürle karşılaştırmayı ve hidrojen teknolojilerine etkisini net yazın.</a:t>
            </a:r>
            <a:endParaRPr lang="en-US" sz="2650" dirty="0"/>
          </a:p>
        </p:txBody>
      </p:sp>
      <p:pic>
        <p:nvPicPr>
          <p:cNvPr id="39" name="Image 5" descr="/mnt/data/poster_assets/ppt/media/image1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45666" y="7771516"/>
            <a:ext cx="5969813" cy="6000232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14271346" y="14090904"/>
            <a:ext cx="65184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Grafik / tablo alanı: en güçlü 2-3 bulgu burada yer almalı</a:t>
            </a:r>
            <a:endParaRPr lang="en-US" sz="1600" dirty="0"/>
          </a:p>
        </p:txBody>
      </p:sp>
      <p:sp>
        <p:nvSpPr>
          <p:cNvPr id="41" name="Text 33"/>
          <p:cNvSpPr/>
          <p:nvPr/>
        </p:nvSpPr>
        <p:spPr>
          <a:xfrm>
            <a:off x="14271346" y="14676120"/>
            <a:ext cx="6518453" cy="530352"/>
          </a:xfrm>
          <a:prstGeom prst="rect">
            <a:avLst/>
          </a:prstGeom>
          <a:solidFill>
            <a:srgbClr val="0066CC"/>
          </a:solidFill>
          <a:ln>
            <a:solidFill>
              <a:srgbClr val="0066CC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SONUÇLAR</a:t>
            </a:r>
            <a:endParaRPr lang="en-US" sz="3000" dirty="0"/>
          </a:p>
        </p:txBody>
      </p:sp>
      <p:sp>
        <p:nvSpPr>
          <p:cNvPr id="42" name="Text 34"/>
          <p:cNvSpPr/>
          <p:nvPr/>
        </p:nvSpPr>
        <p:spPr>
          <a:xfrm>
            <a:off x="14271346" y="15261336"/>
            <a:ext cx="6518453" cy="407822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Bulguların 3 ana sonucunu yazın.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Literatüre göre farkı / katkıyı belirtin.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Uygulama potansiyelini ve ölçeklenebilirlik etkisini vurgulayın.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Sonraki deney veya analiz adımını ekleyin.</a:t>
            </a:r>
            <a:endParaRPr lang="en-US" sz="2800" dirty="0"/>
          </a:p>
        </p:txBody>
      </p:sp>
      <p:sp>
        <p:nvSpPr>
          <p:cNvPr id="43" name="Text 35"/>
          <p:cNvSpPr/>
          <p:nvPr/>
        </p:nvSpPr>
        <p:spPr>
          <a:xfrm>
            <a:off x="14271346" y="19613880"/>
            <a:ext cx="6518453" cy="530352"/>
          </a:xfrm>
          <a:prstGeom prst="rect">
            <a:avLst/>
          </a:prstGeom>
          <a:solidFill>
            <a:srgbClr val="0086A8"/>
          </a:solidFill>
          <a:ln>
            <a:solidFill>
              <a:srgbClr val="0086A8">
                <a:alpha val="0"/>
              </a:srgbClr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UYGULAMA ETKİSİ</a:t>
            </a:r>
            <a:endParaRPr lang="en-US" sz="3000" dirty="0"/>
          </a:p>
        </p:txBody>
      </p:sp>
      <p:sp>
        <p:nvSpPr>
          <p:cNvPr id="44" name="Text 36"/>
          <p:cNvSpPr/>
          <p:nvPr/>
        </p:nvSpPr>
        <p:spPr>
          <a:xfrm>
            <a:off x="14271346" y="20199096"/>
            <a:ext cx="6518453" cy="4123944"/>
          </a:xfrm>
          <a:prstGeom prst="rect">
            <a:avLst/>
          </a:prstGeom>
          <a:solidFill>
            <a:srgbClr val="FFFFFF"/>
          </a:solidFill>
          <a:ln w="13970">
            <a:solidFill>
              <a:srgbClr val="B9D7E5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 çalışmanın hidrojen ekosistemine etkisini tek paragrafta özetleyin:</a:t>
            </a:r>
            <a:endParaRPr lang="en-US" sz="2750" dirty="0"/>
          </a:p>
          <a:p>
            <a:pPr indent="0" marL="0">
              <a:buNone/>
            </a:pPr>
            <a:endParaRPr lang="en-US" sz="2750" dirty="0"/>
          </a:p>
          <a:p>
            <a:pPr indent="0" marL="0">
              <a:buNone/>
            </a:pPr>
            <a:r>
              <a:rPr lang="en-US" sz="2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Endüstri, enerji sistemleri, karbon azaltımı, güvenlik, standartlar, maliyet veya verimlilik açısından hangi sorunu çözmeye yaklaşıyor?</a:t>
            </a:r>
            <a:endParaRPr lang="en-US" sz="2750" dirty="0"/>
          </a:p>
        </p:txBody>
      </p:sp>
      <p:sp>
        <p:nvSpPr>
          <p:cNvPr id="45" name="Text 37"/>
          <p:cNvSpPr/>
          <p:nvPr/>
        </p:nvSpPr>
        <p:spPr>
          <a:xfrm>
            <a:off x="594360" y="25008840"/>
            <a:ext cx="20208240" cy="960120"/>
          </a:xfrm>
          <a:prstGeom prst="rect">
            <a:avLst/>
          </a:prstGeom>
          <a:solidFill>
            <a:srgbClr val="0066CC"/>
          </a:solidFill>
          <a:ln>
            <a:solidFill>
              <a:srgbClr val="0066CC">
                <a:alpha val="0"/>
              </a:srgbClr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CÜMLELİK ÖZET  </a:t>
            </a:r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Posterinizin ana mesajını burada 1 cümlede verin: “Bu çalışma, … sayesinde … alanında ölçülebilir bir katkı sunmaktadır.”</a:t>
            </a:r>
            <a:endParaRPr lang="en-US" sz="2800" dirty="0"/>
          </a:p>
        </p:txBody>
      </p:sp>
      <p:sp>
        <p:nvSpPr>
          <p:cNvPr id="46" name="Text 38"/>
          <p:cNvSpPr/>
          <p:nvPr/>
        </p:nvSpPr>
        <p:spPr>
          <a:xfrm>
            <a:off x="594360" y="26133552"/>
            <a:ext cx="20208240" cy="749808"/>
          </a:xfrm>
          <a:prstGeom prst="rect">
            <a:avLst/>
          </a:prstGeom>
          <a:solidFill>
            <a:srgbClr val="EAF7FB"/>
          </a:solidFill>
          <a:ln w="12700">
            <a:solidFill>
              <a:srgbClr val="B9D7E5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Hızlı kontrol: Başlık kısa mı?  ·  Amaç net mi?  ·  Yöntem 10 saniyede anlaşılıyor mu?  ·  En az bir grafik/tablo var mı?  ·  Sonuç özgün katkıya bağlanıyor mu?</a:t>
            </a:r>
            <a:endParaRPr lang="en-US" sz="2400" dirty="0"/>
          </a:p>
        </p:txBody>
      </p:sp>
      <p:sp>
        <p:nvSpPr>
          <p:cNvPr id="47" name="Shape 39"/>
          <p:cNvSpPr/>
          <p:nvPr/>
        </p:nvSpPr>
        <p:spPr>
          <a:xfrm>
            <a:off x="0" y="27980640"/>
            <a:ext cx="21384158" cy="2295144"/>
          </a:xfrm>
          <a:prstGeom prst="rect">
            <a:avLst/>
          </a:prstGeom>
          <a:solidFill>
            <a:srgbClr val="061A2D"/>
          </a:solidFill>
          <a:ln w="12700">
            <a:solidFill>
              <a:srgbClr val="061A2D">
                <a:alpha val="0"/>
              </a:srgbClr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0" y="27907488"/>
            <a:ext cx="21384158" cy="73152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>
                <a:alpha val="0"/>
              </a:srgbClr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731520" y="282000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KAYNAKÇA</a:t>
            </a:r>
            <a:endParaRPr lang="en-US" sz="1800" dirty="0"/>
          </a:p>
        </p:txBody>
      </p:sp>
      <p:sp>
        <p:nvSpPr>
          <p:cNvPr id="50" name="Text 42"/>
          <p:cNvSpPr/>
          <p:nvPr/>
        </p:nvSpPr>
        <p:spPr>
          <a:xfrm>
            <a:off x="731520" y="28565856"/>
            <a:ext cx="9144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7E7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Yazar, “Makale başlığı,” Dergi, yıl.  [2] Yazar, Rapor başlığı, kurum, yıl.  [3] Standart / veri kaynağı.</a:t>
            </a:r>
            <a:endParaRPr lang="en-US" sz="2000" dirty="0"/>
          </a:p>
        </p:txBody>
      </p:sp>
      <p:sp>
        <p:nvSpPr>
          <p:cNvPr id="51" name="Text 43"/>
          <p:cNvSpPr/>
          <p:nvPr/>
        </p:nvSpPr>
        <p:spPr>
          <a:xfrm>
            <a:off x="10195560" y="282000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TEŞEKKÜR</a:t>
            </a:r>
            <a:endParaRPr lang="en-US" sz="1800" dirty="0"/>
          </a:p>
        </p:txBody>
      </p:sp>
      <p:sp>
        <p:nvSpPr>
          <p:cNvPr id="52" name="Text 44"/>
          <p:cNvSpPr/>
          <p:nvPr/>
        </p:nvSpPr>
        <p:spPr>
          <a:xfrm>
            <a:off x="10195560" y="28565856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7E7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Fon, proje, laboratuvar, kurum ve işbirliği desteklerini kısa ve profesyonel biçimde yazın.</a:t>
            </a:r>
            <a:endParaRPr lang="en-US" sz="2000" dirty="0"/>
          </a:p>
        </p:txBody>
      </p:sp>
      <p:sp>
        <p:nvSpPr>
          <p:cNvPr id="53" name="Text 45"/>
          <p:cNvSpPr/>
          <p:nvPr/>
        </p:nvSpPr>
        <p:spPr>
          <a:xfrm>
            <a:off x="15087600" y="282000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İLETİŞİM</a:t>
            </a:r>
            <a:endParaRPr lang="en-US" sz="1800" dirty="0"/>
          </a:p>
        </p:txBody>
      </p:sp>
      <p:sp>
        <p:nvSpPr>
          <p:cNvPr id="54" name="Text 46"/>
          <p:cNvSpPr/>
          <p:nvPr/>
        </p:nvSpPr>
        <p:spPr>
          <a:xfrm>
            <a:off x="15087600" y="28565856"/>
            <a:ext cx="31089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7E7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e-posta · kurum · LinkedIn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7E7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QR: tam metin / proje sayfası</a:t>
            </a:r>
            <a:endParaRPr lang="en-US" sz="2000" dirty="0"/>
          </a:p>
        </p:txBody>
      </p:sp>
      <p:sp>
        <p:nvSpPr>
          <p:cNvPr id="55" name="Text 47"/>
          <p:cNvSpPr/>
          <p:nvPr/>
        </p:nvSpPr>
        <p:spPr>
          <a:xfrm>
            <a:off x="19065240" y="28181808"/>
            <a:ext cx="1417320" cy="1417320"/>
          </a:xfrm>
          <a:prstGeom prst="rect">
            <a:avLst/>
          </a:prstGeom>
          <a:solidFill>
            <a:srgbClr val="0A2238"/>
          </a:solidFill>
          <a:ln w="15240">
            <a:solidFill>
              <a:srgbClr val="00C8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</a:t>
            </a:r>
            <a:endParaRPr lang="en-US" sz="3200" dirty="0"/>
          </a:p>
        </p:txBody>
      </p:sp>
      <p:sp>
        <p:nvSpPr>
          <p:cNvPr id="56" name="Text 48"/>
          <p:cNvSpPr/>
          <p:nvPr/>
        </p:nvSpPr>
        <p:spPr>
          <a:xfrm>
            <a:off x="18333720" y="296722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7D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#TürkiyeHidrojenZirvesi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Türkiye Hidrojen Zirvesi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Türkiye Hidrojen Zirvesi 2026 Poster Şablonu</dc:title>
  <dc:subject>Türkiye Hidrojen Zirvesi 2026 A1 Poster Şablonu</dc:subject>
  <dc:creator>OpenAI</dc:creator>
  <cp:lastModifiedBy>OpenAI</cp:lastModifiedBy>
  <cp:revision>1</cp:revision>
  <dcterms:created xsi:type="dcterms:W3CDTF">2026-06-24T09:20:18Z</dcterms:created>
  <dcterms:modified xsi:type="dcterms:W3CDTF">2026-06-24T09:20:18Z</dcterms:modified>
</cp:coreProperties>
</file>