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120000" cy="21384000"/>
  <p:notesSz cx="30275784" cy="2138415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31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2455" indent="-242455" algn="l" defTabSz="914400" rtl="0" eaLnBrk="1" latinLnBrk="0" hangingPunct="1">
        <a:spcBef>
          <a:spcPct val="20000"/>
        </a:spcBef>
        <a:buFont typeface="Arial" pitchFamily="34" charset="0"/>
        <a:buChar char="•"/>
        <a:defRPr sz="2263" kern="1200">
          <a:solidFill>
            <a:schemeClr val="tx1"/>
          </a:solidFill>
          <a:latin typeface="+mn-lt"/>
          <a:ea typeface="+mn-ea"/>
          <a:cs typeface="+mn-cs"/>
        </a:defRPr>
      </a:lvl1pPr>
      <a:lvl2pPr marL="525318" indent="-202045" algn="l" defTabSz="914400" rtl="0" eaLnBrk="1" latinLnBrk="0" hangingPunct="1">
        <a:spcBef>
          <a:spcPct val="20000"/>
        </a:spcBef>
        <a:buFont typeface="Arial" pitchFamily="34" charset="0"/>
        <a:buChar char="–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808182" indent="-161636" algn="l" defTabSz="914400" rtl="0" eaLnBrk="1" latinLnBrk="0" hangingPunct="1">
        <a:spcBef>
          <a:spcPct val="20000"/>
        </a:spcBef>
        <a:buFont typeface="Arial" pitchFamily="34" charset="0"/>
        <a:buChar char="•"/>
        <a:defRPr sz="1697" kern="1200">
          <a:solidFill>
            <a:schemeClr val="tx1"/>
          </a:solidFill>
          <a:latin typeface="+mn-lt"/>
          <a:ea typeface="+mn-ea"/>
          <a:cs typeface="+mn-cs"/>
        </a:defRPr>
      </a:lvl3pPr>
      <a:lvl4pPr marL="1131455" indent="-161636" algn="l" defTabSz="914400" rtl="0" eaLnBrk="1" latinLnBrk="0" hangingPunct="1">
        <a:spcBef>
          <a:spcPct val="20000"/>
        </a:spcBef>
        <a:buFont typeface="Arial" pitchFamily="34" charset="0"/>
        <a:buChar char="–"/>
        <a:defRPr sz="1414" kern="1200">
          <a:solidFill>
            <a:schemeClr val="tx1"/>
          </a:solidFill>
          <a:latin typeface="+mn-lt"/>
          <a:ea typeface="+mn-ea"/>
          <a:cs typeface="+mn-cs"/>
        </a:defRPr>
      </a:lvl4pPr>
      <a:lvl5pPr marL="1454727" indent="-161636" algn="l" defTabSz="914400" rtl="0" eaLnBrk="1" latinLnBrk="0" hangingPunct="1">
        <a:spcBef>
          <a:spcPct val="20000"/>
        </a:spcBef>
        <a:buFont typeface="Arial" pitchFamily="34" charset="0"/>
        <a:buChar char="»"/>
        <a:defRPr sz="1414" kern="1200">
          <a:solidFill>
            <a:schemeClr val="tx1"/>
          </a:solidFill>
          <a:latin typeface="+mn-lt"/>
          <a:ea typeface="+mn-ea"/>
          <a:cs typeface="+mn-cs"/>
        </a:defRPr>
      </a:lvl5pPr>
      <a:lvl6pPr marL="1778000" indent="-161636" algn="l" defTabSz="914400" rtl="0" eaLnBrk="1" latinLnBrk="0" hangingPunct="1">
        <a:spcBef>
          <a:spcPct val="20000"/>
        </a:spcBef>
        <a:buFont typeface="Arial" pitchFamily="34" charset="0"/>
        <a:buChar char="•"/>
        <a:defRPr sz="1414" kern="1200">
          <a:solidFill>
            <a:schemeClr val="tx1"/>
          </a:solidFill>
          <a:latin typeface="+mn-lt"/>
          <a:ea typeface="+mn-ea"/>
          <a:cs typeface="+mn-cs"/>
        </a:defRPr>
      </a:lvl6pPr>
      <a:lvl7pPr marL="2101273" indent="-161636" algn="l" defTabSz="914400" rtl="0" eaLnBrk="1" latinLnBrk="0" hangingPunct="1">
        <a:spcBef>
          <a:spcPct val="20000"/>
        </a:spcBef>
        <a:buFont typeface="Arial" pitchFamily="34" charset="0"/>
        <a:buChar char="•"/>
        <a:defRPr sz="1414" kern="1200">
          <a:solidFill>
            <a:schemeClr val="tx1"/>
          </a:solidFill>
          <a:latin typeface="+mn-lt"/>
          <a:ea typeface="+mn-ea"/>
          <a:cs typeface="+mn-cs"/>
        </a:defRPr>
      </a:lvl7pPr>
      <a:lvl8pPr marL="2424545" indent="-161636" algn="l" defTabSz="914400" rtl="0" eaLnBrk="1" latinLnBrk="0" hangingPunct="1">
        <a:spcBef>
          <a:spcPct val="20000"/>
        </a:spcBef>
        <a:buFont typeface="Arial" pitchFamily="34" charset="0"/>
        <a:buChar char="•"/>
        <a:defRPr sz="1414" kern="1200">
          <a:solidFill>
            <a:schemeClr val="tx1"/>
          </a:solidFill>
          <a:latin typeface="+mn-lt"/>
          <a:ea typeface="+mn-ea"/>
          <a:cs typeface="+mn-cs"/>
        </a:defRPr>
      </a:lvl8pPr>
      <a:lvl9pPr marL="2747818" indent="-161636" algn="l" defTabSz="914400" rtl="0" eaLnBrk="1" latinLnBrk="0" hangingPunct="1">
        <a:spcBef>
          <a:spcPct val="20000"/>
        </a:spcBef>
        <a:buFont typeface="Arial" pitchFamily="34" charset="0"/>
        <a:buChar char="•"/>
        <a:defRPr sz="14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273" kern="1200">
          <a:solidFill>
            <a:schemeClr val="tx1"/>
          </a:solidFill>
          <a:latin typeface="+mn-lt"/>
          <a:ea typeface="+mn-ea"/>
          <a:cs typeface="+mn-cs"/>
        </a:defRPr>
      </a:lvl1pPr>
      <a:lvl2pPr marL="323273" algn="l" defTabSz="914400" rtl="0" eaLnBrk="1" latinLnBrk="0" hangingPunct="1">
        <a:defRPr sz="1273" kern="1200">
          <a:solidFill>
            <a:schemeClr val="tx1"/>
          </a:solidFill>
          <a:latin typeface="+mn-lt"/>
          <a:ea typeface="+mn-ea"/>
          <a:cs typeface="+mn-cs"/>
        </a:defRPr>
      </a:lvl2pPr>
      <a:lvl3pPr marL="646545" algn="l" defTabSz="914400" rtl="0" eaLnBrk="1" latinLnBrk="0" hangingPunct="1">
        <a:defRPr sz="1273" kern="1200">
          <a:solidFill>
            <a:schemeClr val="tx1"/>
          </a:solidFill>
          <a:latin typeface="+mn-lt"/>
          <a:ea typeface="+mn-ea"/>
          <a:cs typeface="+mn-cs"/>
        </a:defRPr>
      </a:lvl3pPr>
      <a:lvl4pPr marL="969818" algn="l" defTabSz="914400" rtl="0" eaLnBrk="1" latinLnBrk="0" hangingPunct="1">
        <a:defRPr sz="1273" kern="1200">
          <a:solidFill>
            <a:schemeClr val="tx1"/>
          </a:solidFill>
          <a:latin typeface="+mn-lt"/>
          <a:ea typeface="+mn-ea"/>
          <a:cs typeface="+mn-cs"/>
        </a:defRPr>
      </a:lvl4pPr>
      <a:lvl5pPr marL="1293091" algn="l" defTabSz="914400" rtl="0" eaLnBrk="1" latinLnBrk="0" hangingPunct="1">
        <a:defRPr sz="1273" kern="1200">
          <a:solidFill>
            <a:schemeClr val="tx1"/>
          </a:solidFill>
          <a:latin typeface="+mn-lt"/>
          <a:ea typeface="+mn-ea"/>
          <a:cs typeface="+mn-cs"/>
        </a:defRPr>
      </a:lvl5pPr>
      <a:lvl6pPr marL="1616364" algn="l" defTabSz="914400" rtl="0" eaLnBrk="1" latinLnBrk="0" hangingPunct="1">
        <a:defRPr sz="1273" kern="1200">
          <a:solidFill>
            <a:schemeClr val="tx1"/>
          </a:solidFill>
          <a:latin typeface="+mn-lt"/>
          <a:ea typeface="+mn-ea"/>
          <a:cs typeface="+mn-cs"/>
        </a:defRPr>
      </a:lvl6pPr>
      <a:lvl7pPr marL="1939636" algn="l" defTabSz="914400" rtl="0" eaLnBrk="1" latinLnBrk="0" hangingPunct="1">
        <a:defRPr sz="1273" kern="1200">
          <a:solidFill>
            <a:schemeClr val="tx1"/>
          </a:solidFill>
          <a:latin typeface="+mn-lt"/>
          <a:ea typeface="+mn-ea"/>
          <a:cs typeface="+mn-cs"/>
        </a:defRPr>
      </a:lvl7pPr>
      <a:lvl8pPr marL="2262909" algn="l" defTabSz="914400" rtl="0" eaLnBrk="1" latinLnBrk="0" hangingPunct="1">
        <a:defRPr sz="1273" kern="1200">
          <a:solidFill>
            <a:schemeClr val="tx1"/>
          </a:solidFill>
          <a:latin typeface="+mn-lt"/>
          <a:ea typeface="+mn-ea"/>
          <a:cs typeface="+mn-cs"/>
        </a:defRPr>
      </a:lvl8pPr>
      <a:lvl9pPr marL="2586182" algn="l" defTabSz="914400" rtl="0" eaLnBrk="1" latinLnBrk="0" hangingPunct="1">
        <a:defRPr sz="12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0112" cy="21407120"/>
          </a:xfrm>
          <a:prstGeom prst="rect">
            <a:avLst/>
          </a:prstGeom>
          <a:solidFill>
            <a:srgbClr val="F6FAFD"/>
          </a:solidFill>
          <a:ln w="898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5120112" cy="2004291"/>
          </a:xfrm>
          <a:prstGeom prst="rect">
            <a:avLst/>
          </a:prstGeom>
          <a:solidFill>
            <a:srgbClr val="061A2D"/>
          </a:solidFill>
          <a:ln w="8980">
            <a:solidFill>
              <a:srgbClr val="061A2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04291"/>
            <a:ext cx="15120112" cy="64655"/>
          </a:xfrm>
          <a:prstGeom prst="rect">
            <a:avLst/>
          </a:prstGeom>
          <a:solidFill>
            <a:srgbClr val="00C8FF"/>
          </a:solidFill>
          <a:ln w="8980">
            <a:solidFill>
              <a:srgbClr val="00C8FF">
                <a:alpha val="0"/>
              </a:srgbClr>
            </a:solidFill>
            <a:prstDash val="solid"/>
          </a:ln>
        </p:spPr>
      </p:sp>
      <p:pic>
        <p:nvPicPr>
          <p:cNvPr id="5" name="Image 0" descr="/mnt/data/poster_assets/ppt/media/image1.png">    </p:cNvPr>
          <p:cNvPicPr>
            <a:picLocks noChangeAspect="1"/>
          </p:cNvPicPr>
          <p:nvPr/>
        </p:nvPicPr>
        <p:blipFill>
          <a:blip r:embed="rId1"/>
          <a:srcRect l="0" r="50912" t="8000" b="14000"/>
          <a:stretch/>
        </p:blipFill>
        <p:spPr>
          <a:xfrm>
            <a:off x="355600" y="323273"/>
            <a:ext cx="762924" cy="8081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4989" y="394393"/>
            <a:ext cx="808182" cy="6142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1" b="1" dirty="0">
                <a:solidFill>
                  <a:srgbClr val="D7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ULUSAL</a:t>
            </a:r>
            <a:endParaRPr lang="en-US" sz="1061" dirty="0"/>
          </a:p>
          <a:p>
            <a:pPr indent="0" marL="0">
              <a:buNone/>
            </a:pPr>
            <a:r>
              <a:rPr lang="en-US" sz="1061" b="1" dirty="0">
                <a:solidFill>
                  <a:srgbClr val="D7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HİDROJEN</a:t>
            </a:r>
            <a:endParaRPr lang="en-US" sz="1061" dirty="0"/>
          </a:p>
          <a:p>
            <a:pPr indent="0" marL="0">
              <a:buNone/>
            </a:pPr>
            <a:r>
              <a:rPr lang="en-US" sz="1061" b="1" dirty="0">
                <a:solidFill>
                  <a:srgbClr val="D7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ZİRVESİ</a:t>
            </a:r>
            <a:endParaRPr lang="en-US" sz="1061" dirty="0"/>
          </a:p>
        </p:txBody>
      </p:sp>
      <p:pic>
        <p:nvPicPr>
          <p:cNvPr id="7" name="Image 1" descr="/mnt/data/poster_assets/ppt/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255" y="276451"/>
            <a:ext cx="1745673" cy="733724"/>
          </a:xfrm>
          <a:prstGeom prst="rect">
            <a:avLst/>
          </a:prstGeom>
        </p:spPr>
      </p:pic>
      <p:pic>
        <p:nvPicPr>
          <p:cNvPr id="8" name="Image 2" descr="/mnt/data/poster_assets/ppt/media/image2.png">    </p:cNvPr>
          <p:cNvPicPr>
            <a:picLocks noChangeAspect="1"/>
          </p:cNvPicPr>
          <p:nvPr/>
        </p:nvPicPr>
        <p:blipFill>
          <a:blip r:embed="rId3"/>
          <a:srcRect l="0" r="0" t="20259" b="20259"/>
          <a:stretch/>
        </p:blipFill>
        <p:spPr>
          <a:xfrm>
            <a:off x="12930909" y="271549"/>
            <a:ext cx="1874982" cy="74352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165927" y="297411"/>
            <a:ext cx="8663709" cy="5301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TÜRKİYE HİDROJEN ZİRVESİ 2026</a:t>
            </a:r>
            <a:endParaRPr lang="en-US" sz="3253" dirty="0"/>
          </a:p>
        </p:txBody>
      </p:sp>
      <p:sp>
        <p:nvSpPr>
          <p:cNvPr id="10" name="Text 5"/>
          <p:cNvSpPr/>
          <p:nvPr/>
        </p:nvSpPr>
        <p:spPr>
          <a:xfrm>
            <a:off x="2165927" y="853440"/>
            <a:ext cx="7435273" cy="27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6" dirty="0">
                <a:solidFill>
                  <a:srgbClr val="D7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Akademik ve Endüstriyel Poster Sunum Şablonu</a:t>
            </a:r>
            <a:endParaRPr lang="en-US" sz="1626" dirty="0"/>
          </a:p>
        </p:txBody>
      </p:sp>
      <p:sp>
        <p:nvSpPr>
          <p:cNvPr id="11" name="Text 6"/>
          <p:cNvSpPr/>
          <p:nvPr/>
        </p:nvSpPr>
        <p:spPr>
          <a:xfrm>
            <a:off x="2165927" y="1209040"/>
            <a:ext cx="7564582" cy="2780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97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15-16 EKİM 2026  ·  ATO CONGRESIUM  ·  ANKARA</a:t>
            </a:r>
            <a:endParaRPr lang="en-US" sz="1697" dirty="0"/>
          </a:p>
        </p:txBody>
      </p:sp>
      <p:sp>
        <p:nvSpPr>
          <p:cNvPr id="12" name="Text 7"/>
          <p:cNvSpPr/>
          <p:nvPr/>
        </p:nvSpPr>
        <p:spPr>
          <a:xfrm>
            <a:off x="2165927" y="1512916"/>
            <a:ext cx="8211127" cy="2456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4" dirty="0">
                <a:solidFill>
                  <a:srgbClr val="B7D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DİKEY  ·  Türkçe / English  ·  Minimum 28 pt</a:t>
            </a:r>
            <a:endParaRPr lang="en-US" sz="1414" dirty="0"/>
          </a:p>
        </p:txBody>
      </p:sp>
      <p:sp>
        <p:nvSpPr>
          <p:cNvPr id="13" name="Shape 8"/>
          <p:cNvSpPr/>
          <p:nvPr/>
        </p:nvSpPr>
        <p:spPr>
          <a:xfrm>
            <a:off x="420255" y="2295236"/>
            <a:ext cx="14288655" cy="1519382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8980">
            <a:solidFill>
              <a:srgbClr val="CBE3E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14218" y="2424545"/>
            <a:ext cx="13900727" cy="50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11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 BAŞLIĞI: ÇALIŞMANIN KISA, NET VE TEKNİK BAŞLIĞI</a:t>
            </a:r>
            <a:endParaRPr lang="en-US" sz="3111" dirty="0"/>
          </a:p>
        </p:txBody>
      </p:sp>
      <p:sp>
        <p:nvSpPr>
          <p:cNvPr id="15" name="Text 10"/>
          <p:cNvSpPr/>
          <p:nvPr/>
        </p:nvSpPr>
        <p:spPr>
          <a:xfrm>
            <a:off x="872836" y="3006436"/>
            <a:ext cx="13318836" cy="2586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97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Yazar Adları¹,²  ·  Kurum / Şirket  ·  Bölüm / Birim  ·  Şehir, Ülke  ·  e-posta</a:t>
            </a:r>
            <a:endParaRPr lang="en-US" sz="1697" dirty="0"/>
          </a:p>
        </p:txBody>
      </p:sp>
      <p:sp>
        <p:nvSpPr>
          <p:cNvPr id="16" name="Text 11"/>
          <p:cNvSpPr/>
          <p:nvPr/>
        </p:nvSpPr>
        <p:spPr>
          <a:xfrm>
            <a:off x="872836" y="3323244"/>
            <a:ext cx="13318836" cy="2456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6" b="1" dirty="0">
                <a:solidFill>
                  <a:srgbClr val="0F6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Anahtar Kelimeler: hidrojen üretimi · elektroliz · yakıt hücreleri · depolama · sürdürülebilirlik · TRL</a:t>
            </a:r>
            <a:endParaRPr lang="en-US" sz="1626" dirty="0"/>
          </a:p>
        </p:txBody>
      </p:sp>
      <p:sp>
        <p:nvSpPr>
          <p:cNvPr id="17" name="Shape 12"/>
          <p:cNvSpPr/>
          <p:nvPr/>
        </p:nvSpPr>
        <p:spPr>
          <a:xfrm>
            <a:off x="5142407" y="4040909"/>
            <a:ext cx="0" cy="15355455"/>
          </a:xfrm>
          <a:prstGeom prst="line">
            <a:avLst/>
          </a:prstGeom>
          <a:noFill/>
          <a:ln w="8980">
            <a:solidFill>
              <a:srgbClr val="D2E8F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977705" y="4040909"/>
            <a:ext cx="0" cy="15355455"/>
          </a:xfrm>
          <a:prstGeom prst="line">
            <a:avLst/>
          </a:prstGeom>
          <a:noFill/>
          <a:ln w="8980">
            <a:solidFill>
              <a:srgbClr val="D2E8F1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20255" y="4040909"/>
            <a:ext cx="4609007" cy="374996"/>
          </a:xfrm>
          <a:prstGeom prst="rect">
            <a:avLst/>
          </a:prstGeom>
          <a:solidFill>
            <a:srgbClr val="0B2842"/>
          </a:solidFill>
          <a:ln>
            <a:solidFill>
              <a:srgbClr val="0B2842">
                <a:alpha val="0"/>
              </a:srgbClr>
            </a:solidFill>
          </a:ln>
        </p:spPr>
        <p:txBody>
          <a:bodyPr wrap="square" lIns="1167" tIns="1167" rIns="1167" bIns="1167" rtlCol="0" anchor="ctr">
            <a:normAutofit/>
          </a:bodyPr>
          <a:lstStyle/>
          <a:p>
            <a:pPr algn="l" indent="0" marL="0">
              <a:buNone/>
            </a:pPr>
            <a:r>
              <a:rPr lang="en-US" sz="212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GİRİŞ VE MOTİVASYON</a:t>
            </a:r>
            <a:endParaRPr lang="en-US" sz="2121" dirty="0"/>
          </a:p>
        </p:txBody>
      </p:sp>
      <p:sp>
        <p:nvSpPr>
          <p:cNvPr id="20" name="Text 15"/>
          <p:cNvSpPr/>
          <p:nvPr/>
        </p:nvSpPr>
        <p:spPr>
          <a:xfrm>
            <a:off x="420255" y="4454698"/>
            <a:ext cx="4609007" cy="2204720"/>
          </a:xfrm>
          <a:prstGeom prst="rect">
            <a:avLst/>
          </a:prstGeom>
          <a:solidFill>
            <a:srgbClr val="FFFFFF"/>
          </a:solidFill>
          <a:ln w="9878">
            <a:solidFill>
              <a:srgbClr val="B9D7E5"/>
            </a:solidFill>
          </a:ln>
        </p:spPr>
        <p:txBody>
          <a:bodyPr wrap="square" lIns="1616" tIns="1616" rIns="1616" bIns="1616" rtlCol="0" anchor="t">
            <a:normAutofit/>
          </a:bodyPr>
          <a:lstStyle/>
          <a:p>
            <a:pPr indent="0" marL="0">
              <a:buNone/>
            </a:pPr>
            <a:r>
              <a:rPr lang="en-US" sz="1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Çalışmanın bağlamını ve hidrojen teknolojileriyle ilişkisini 3-4 cümlede özetleyin.</a:t>
            </a:r>
            <a:endParaRPr lang="en-US" sz="1980" dirty="0"/>
          </a:p>
          <a:p>
            <a:pPr indent="0" marL="0">
              <a:buNone/>
            </a:pPr>
            <a:r>
              <a:rPr lang="en-US" sz="1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Problemi net kurun: hangi teknik, ekonomik veya çevresel boşluğu hedefliyorsunuz?</a:t>
            </a:r>
            <a:endParaRPr lang="en-US" sz="1980" dirty="0"/>
          </a:p>
          <a:p>
            <a:pPr indent="0" marL="0">
              <a:buNone/>
            </a:pPr>
            <a:r>
              <a:rPr lang="en-US" sz="1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Literatürdeki mevcut yaklaşımı ve bu çalışmanın neden gerekli olduğunu belirtin.</a:t>
            </a:r>
            <a:endParaRPr lang="en-US" sz="1980" dirty="0"/>
          </a:p>
        </p:txBody>
      </p:sp>
      <p:sp>
        <p:nvSpPr>
          <p:cNvPr id="21" name="Text 16"/>
          <p:cNvSpPr/>
          <p:nvPr/>
        </p:nvSpPr>
        <p:spPr>
          <a:xfrm>
            <a:off x="420255" y="6853382"/>
            <a:ext cx="4609007" cy="374996"/>
          </a:xfrm>
          <a:prstGeom prst="rect">
            <a:avLst/>
          </a:prstGeom>
          <a:solidFill>
            <a:srgbClr val="0066CC"/>
          </a:solidFill>
          <a:ln>
            <a:solidFill>
              <a:srgbClr val="0066CC">
                <a:alpha val="0"/>
              </a:srgbClr>
            </a:solidFill>
          </a:ln>
        </p:spPr>
        <p:txBody>
          <a:bodyPr wrap="square" lIns="1167" tIns="1167" rIns="1167" bIns="1167" rtlCol="0" anchor="ctr">
            <a:normAutofit/>
          </a:bodyPr>
          <a:lstStyle/>
          <a:p>
            <a:pPr algn="l" indent="0" marL="0">
              <a:buNone/>
            </a:pPr>
            <a:r>
              <a:rPr lang="en-US" sz="212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AMAÇ &amp; ÖZGÜN KATKI</a:t>
            </a:r>
            <a:endParaRPr lang="en-US" sz="2121" dirty="0"/>
          </a:p>
        </p:txBody>
      </p:sp>
      <p:sp>
        <p:nvSpPr>
          <p:cNvPr id="22" name="Text 17"/>
          <p:cNvSpPr/>
          <p:nvPr/>
        </p:nvSpPr>
        <p:spPr>
          <a:xfrm>
            <a:off x="420255" y="7267171"/>
            <a:ext cx="4609007" cy="2851265"/>
          </a:xfrm>
          <a:prstGeom prst="rect">
            <a:avLst/>
          </a:prstGeom>
          <a:solidFill>
            <a:srgbClr val="FFFFFF"/>
          </a:solidFill>
          <a:ln w="9878">
            <a:solidFill>
              <a:srgbClr val="B9D7E5"/>
            </a:solidFill>
          </a:ln>
        </p:spPr>
        <p:txBody>
          <a:bodyPr wrap="square" lIns="1616" tIns="1616" rIns="1616" bIns="1616" rtlCol="0" anchor="t">
            <a:normAutofit/>
          </a:bodyPr>
          <a:lstStyle/>
          <a:p>
            <a:pPr indent="0" marL="0">
              <a:buNone/>
            </a:pPr>
            <a:r>
              <a:rPr lang="en-US" sz="194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Amaç: Bu çalışmanın amacı, … hidrojen teknolojisi kapsamında … performansını değerlendirmektir.</a:t>
            </a:r>
            <a:endParaRPr lang="en-US" sz="1944" dirty="0"/>
          </a:p>
          <a:p>
            <a:pPr indent="0" marL="0">
              <a:buNone/>
            </a:pPr>
            <a:endParaRPr lang="en-US" sz="1944" dirty="0"/>
          </a:p>
          <a:p>
            <a:pPr indent="0" marL="0">
              <a:buNone/>
            </a:pPr>
            <a:r>
              <a:rPr lang="en-US" sz="194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Özgün Katkı: Çalışma, … parametresini / yöntemi / uygulama alanını literatürdeki benzer çalışmalardan farklı biçimde ele almaktadır.</a:t>
            </a:r>
            <a:endParaRPr lang="en-US" sz="1944" dirty="0"/>
          </a:p>
          <a:p>
            <a:pPr indent="0" marL="0">
              <a:buNone/>
            </a:pPr>
            <a:endParaRPr lang="en-US" sz="1944" dirty="0"/>
          </a:p>
          <a:p>
            <a:pPr indent="0" marL="0">
              <a:buNone/>
            </a:pPr>
            <a:r>
              <a:rPr lang="en-US" sz="194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Jüri için tek cümlelik katkı: “Bu posterin en önemli bulgusu …”</a:t>
            </a:r>
            <a:endParaRPr lang="en-US" sz="1944" dirty="0"/>
          </a:p>
        </p:txBody>
      </p:sp>
      <p:sp>
        <p:nvSpPr>
          <p:cNvPr id="23" name="Text 18"/>
          <p:cNvSpPr/>
          <p:nvPr/>
        </p:nvSpPr>
        <p:spPr>
          <a:xfrm>
            <a:off x="420255" y="10312400"/>
            <a:ext cx="4609007" cy="374996"/>
          </a:xfrm>
          <a:prstGeom prst="rect">
            <a:avLst/>
          </a:prstGeom>
          <a:solidFill>
            <a:srgbClr val="0086A8"/>
          </a:solidFill>
          <a:ln>
            <a:solidFill>
              <a:srgbClr val="0086A8">
                <a:alpha val="0"/>
              </a:srgbClr>
            </a:solidFill>
          </a:ln>
        </p:spPr>
        <p:txBody>
          <a:bodyPr wrap="square" lIns="1167" tIns="1167" rIns="1167" bIns="1167" rtlCol="0" anchor="ctr">
            <a:normAutofit/>
          </a:bodyPr>
          <a:lstStyle/>
          <a:p>
            <a:pPr algn="l" indent="0" marL="0">
              <a:buNone/>
            </a:pPr>
            <a:r>
              <a:rPr lang="en-US" sz="212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HİDROJEN DEĞER ZİNCİRİ</a:t>
            </a:r>
            <a:endParaRPr lang="en-US" sz="2121" dirty="0"/>
          </a:p>
        </p:txBody>
      </p:sp>
      <p:sp>
        <p:nvSpPr>
          <p:cNvPr id="24" name="Text 19"/>
          <p:cNvSpPr/>
          <p:nvPr/>
        </p:nvSpPr>
        <p:spPr>
          <a:xfrm>
            <a:off x="420255" y="10726189"/>
            <a:ext cx="4609007" cy="711200"/>
          </a:xfrm>
          <a:prstGeom prst="rect">
            <a:avLst/>
          </a:prstGeom>
          <a:solidFill>
            <a:srgbClr val="FFFFFF"/>
          </a:solidFill>
          <a:ln w="9878">
            <a:solidFill>
              <a:srgbClr val="B9D7E5"/>
            </a:solidFill>
          </a:ln>
        </p:spPr>
        <p:txBody>
          <a:bodyPr wrap="square" lIns="1616" tIns="1616" rIns="1616" bIns="1616" rtlCol="0" anchor="t">
            <a:normAutofit/>
          </a:bodyPr>
          <a:lstStyle/>
          <a:p>
            <a:pPr indent="0" marL="0">
              <a:buNone/>
            </a:pPr>
            <a:r>
              <a:rPr lang="en-US" sz="187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Çalışmanın değer zincirindeki yerini işaretleyin: üretim, depolama, taşıma, kullanım, sistem entegrasyonu veya politika/strateji.</a:t>
            </a:r>
            <a:endParaRPr lang="en-US" sz="1874" dirty="0"/>
          </a:p>
        </p:txBody>
      </p:sp>
      <p:pic>
        <p:nvPicPr>
          <p:cNvPr id="25" name="Image 3" descr="/mnt/data/poster_assets/ppt/media/image5.png">    </p:cNvPr>
          <p:cNvPicPr>
            <a:picLocks noChangeAspect="1"/>
          </p:cNvPicPr>
          <p:nvPr/>
        </p:nvPicPr>
        <p:blipFill>
          <a:blip r:embed="rId4"/>
          <a:srcRect l="0" r="0" t="14771" b="14771"/>
          <a:stretch/>
        </p:blipFill>
        <p:spPr>
          <a:xfrm>
            <a:off x="420255" y="11527905"/>
            <a:ext cx="4609007" cy="171334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20255" y="13273578"/>
            <a:ext cx="4609007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1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Şekil alanı: konuya özel sistem / proses / değer zinciri görseli</a:t>
            </a:r>
            <a:endParaRPr lang="en-US" sz="1131" dirty="0"/>
          </a:p>
        </p:txBody>
      </p:sp>
      <p:sp>
        <p:nvSpPr>
          <p:cNvPr id="27" name="Text 21"/>
          <p:cNvSpPr/>
          <p:nvPr/>
        </p:nvSpPr>
        <p:spPr>
          <a:xfrm>
            <a:off x="420255" y="13674436"/>
            <a:ext cx="4609007" cy="374996"/>
          </a:xfrm>
          <a:prstGeom prst="rect">
            <a:avLst/>
          </a:prstGeom>
          <a:solidFill>
            <a:srgbClr val="0B2842"/>
          </a:solidFill>
          <a:ln>
            <a:solidFill>
              <a:srgbClr val="0B2842">
                <a:alpha val="0"/>
              </a:srgbClr>
            </a:solidFill>
          </a:ln>
        </p:spPr>
        <p:txBody>
          <a:bodyPr wrap="square" lIns="1167" tIns="1167" rIns="1167" bIns="1167" rtlCol="0" anchor="ctr">
            <a:normAutofit/>
          </a:bodyPr>
          <a:lstStyle/>
          <a:p>
            <a:pPr algn="l" indent="0" marL="0">
              <a:buNone/>
            </a:pPr>
            <a:r>
              <a:rPr lang="en-US" sz="212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KAPSAM / TRL / VERİ SETİ</a:t>
            </a:r>
            <a:endParaRPr lang="en-US" sz="2121" dirty="0"/>
          </a:p>
        </p:txBody>
      </p:sp>
      <p:sp>
        <p:nvSpPr>
          <p:cNvPr id="28" name="Text 22"/>
          <p:cNvSpPr/>
          <p:nvPr/>
        </p:nvSpPr>
        <p:spPr>
          <a:xfrm>
            <a:off x="420255" y="14088225"/>
            <a:ext cx="4609007" cy="3109884"/>
          </a:xfrm>
          <a:prstGeom prst="rect">
            <a:avLst/>
          </a:prstGeom>
          <a:solidFill>
            <a:srgbClr val="FFFFFF"/>
          </a:solidFill>
          <a:ln w="9878">
            <a:solidFill>
              <a:srgbClr val="B9D7E5"/>
            </a:solidFill>
          </a:ln>
        </p:spPr>
        <p:txBody>
          <a:bodyPr wrap="square" lIns="1616" tIns="1616" rIns="1616" bIns="1616" rtlCol="0" anchor="t">
            <a:normAutofit/>
          </a:bodyPr>
          <a:lstStyle/>
          <a:p>
            <a:pPr indent="0" marL="0">
              <a:buNone/>
            </a:pPr>
            <a:r>
              <a:rPr lang="en-US" sz="194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Çalışma Alanı: üretim, depolama, yakıt hücresi, endüstriyel uygulama, sistem entegrasyonu vb.</a:t>
            </a:r>
            <a:endParaRPr lang="en-US" sz="1944" dirty="0"/>
          </a:p>
          <a:p>
            <a:pPr indent="0" marL="0">
              <a:buNone/>
            </a:pPr>
            <a:endParaRPr lang="en-US" sz="1944" dirty="0"/>
          </a:p>
          <a:p>
            <a:pPr indent="0" marL="0">
              <a:buNone/>
            </a:pPr>
            <a:r>
              <a:rPr lang="en-US" sz="194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Teknoloji Hazırlık Seviyesi: TRL 1-3 / TRL 4-6 / TRL 7-9</a:t>
            </a:r>
            <a:endParaRPr lang="en-US" sz="1944" dirty="0"/>
          </a:p>
          <a:p>
            <a:pPr indent="0" marL="0">
              <a:buNone/>
            </a:pPr>
            <a:endParaRPr lang="en-US" sz="1944" dirty="0"/>
          </a:p>
          <a:p>
            <a:pPr indent="0" marL="0">
              <a:buNone/>
            </a:pPr>
            <a:r>
              <a:rPr lang="en-US" sz="194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Kaynağı: deneysel ölçüm, simülasyon, saha verisi, literatür karşılaştırması veya analitik model.</a:t>
            </a:r>
            <a:endParaRPr lang="en-US" sz="1944" dirty="0"/>
          </a:p>
        </p:txBody>
      </p:sp>
      <p:sp>
        <p:nvSpPr>
          <p:cNvPr id="29" name="Text 23"/>
          <p:cNvSpPr/>
          <p:nvPr/>
        </p:nvSpPr>
        <p:spPr>
          <a:xfrm>
            <a:off x="5255553" y="4040909"/>
            <a:ext cx="4609007" cy="374996"/>
          </a:xfrm>
          <a:prstGeom prst="rect">
            <a:avLst/>
          </a:prstGeom>
          <a:solidFill>
            <a:srgbClr val="0066CC"/>
          </a:solidFill>
          <a:ln>
            <a:solidFill>
              <a:srgbClr val="0066CC">
                <a:alpha val="0"/>
              </a:srgbClr>
            </a:solidFill>
          </a:ln>
        </p:spPr>
        <p:txBody>
          <a:bodyPr wrap="square" lIns="1167" tIns="1167" rIns="1167" bIns="1167" rtlCol="0" anchor="ctr">
            <a:normAutofit/>
          </a:bodyPr>
          <a:lstStyle/>
          <a:p>
            <a:pPr algn="l" indent="0" marL="0">
              <a:buNone/>
            </a:pPr>
            <a:r>
              <a:rPr lang="en-US" sz="212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YÖNTEM</a:t>
            </a:r>
            <a:endParaRPr lang="en-US" sz="2121" dirty="0"/>
          </a:p>
        </p:txBody>
      </p:sp>
      <p:sp>
        <p:nvSpPr>
          <p:cNvPr id="30" name="Text 24"/>
          <p:cNvSpPr/>
          <p:nvPr/>
        </p:nvSpPr>
        <p:spPr>
          <a:xfrm>
            <a:off x="5255553" y="4454698"/>
            <a:ext cx="4609007" cy="1978429"/>
          </a:xfrm>
          <a:prstGeom prst="rect">
            <a:avLst/>
          </a:prstGeom>
          <a:solidFill>
            <a:srgbClr val="FFFFFF"/>
          </a:solidFill>
          <a:ln w="9878">
            <a:solidFill>
              <a:srgbClr val="B9D7E5"/>
            </a:solidFill>
          </a:ln>
        </p:spPr>
        <p:txBody>
          <a:bodyPr wrap="square" lIns="1616" tIns="1616" rIns="1616" bIns="1616" rtlCol="0" anchor="t">
            <a:normAutofit/>
          </a:bodyPr>
          <a:lstStyle/>
          <a:p>
            <a:pPr indent="0" marL="0">
              <a:buNone/>
            </a:pPr>
            <a:r>
              <a:rPr lang="en-US" sz="194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Yöntemi bir akış olarak anlatın. Ziyaretçi 10 saniyede çalışmanın nasıl yapıldığını anlayabilmeli.</a:t>
            </a:r>
            <a:endParaRPr lang="en-US" sz="1944" dirty="0"/>
          </a:p>
          <a:p>
            <a:pPr indent="0" marL="0">
              <a:buNone/>
            </a:pPr>
            <a:endParaRPr lang="en-US" sz="1944" dirty="0"/>
          </a:p>
          <a:p>
            <a:pPr indent="0" marL="0">
              <a:buNone/>
            </a:pPr>
            <a:r>
              <a:rPr lang="en-US" sz="194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Önerilen sıra: Girdi / hammadde → üretim veya sentez → test / karakterizasyon → veri analizi → değerlendirme.</a:t>
            </a:r>
            <a:endParaRPr lang="en-US" sz="1944" dirty="0"/>
          </a:p>
        </p:txBody>
      </p:sp>
      <p:pic>
        <p:nvPicPr>
          <p:cNvPr id="31" name="Image 4" descr="/mnt/data/poster_assets/ppt/media/image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9696" y="6594764"/>
            <a:ext cx="3440721" cy="2618509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55553" y="9245600"/>
            <a:ext cx="4609007" cy="226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1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Şekil 1. Yöntem akış şeması ve kullanılan test/analiz teknikleri</a:t>
            </a:r>
            <a:endParaRPr lang="en-US" sz="1131" dirty="0"/>
          </a:p>
        </p:txBody>
      </p:sp>
      <p:sp>
        <p:nvSpPr>
          <p:cNvPr id="33" name="Text 26"/>
          <p:cNvSpPr/>
          <p:nvPr/>
        </p:nvSpPr>
        <p:spPr>
          <a:xfrm>
            <a:off x="5255553" y="9665855"/>
            <a:ext cx="4609007" cy="374996"/>
          </a:xfrm>
          <a:prstGeom prst="rect">
            <a:avLst/>
          </a:prstGeom>
          <a:solidFill>
            <a:srgbClr val="0086A8"/>
          </a:solidFill>
          <a:ln>
            <a:solidFill>
              <a:srgbClr val="0086A8">
                <a:alpha val="0"/>
              </a:srgbClr>
            </a:solidFill>
          </a:ln>
        </p:spPr>
        <p:txBody>
          <a:bodyPr wrap="square" lIns="1167" tIns="1167" rIns="1167" bIns="1167" rtlCol="0" anchor="ctr">
            <a:normAutofit/>
          </a:bodyPr>
          <a:lstStyle/>
          <a:p>
            <a:pPr algn="l" indent="0" marL="0">
              <a:buNone/>
            </a:pPr>
            <a:r>
              <a:rPr lang="en-US" sz="212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DENEY / MODEL / ANALİZ</a:t>
            </a:r>
            <a:endParaRPr lang="en-US" sz="2121" dirty="0"/>
          </a:p>
        </p:txBody>
      </p:sp>
      <p:sp>
        <p:nvSpPr>
          <p:cNvPr id="34" name="Text 27"/>
          <p:cNvSpPr/>
          <p:nvPr/>
        </p:nvSpPr>
        <p:spPr>
          <a:xfrm>
            <a:off x="5255553" y="10079644"/>
            <a:ext cx="4609007" cy="3336175"/>
          </a:xfrm>
          <a:prstGeom prst="rect">
            <a:avLst/>
          </a:prstGeom>
          <a:solidFill>
            <a:srgbClr val="FFFFFF"/>
          </a:solidFill>
          <a:ln w="9878">
            <a:solidFill>
              <a:srgbClr val="B9D7E5"/>
            </a:solidFill>
          </a:ln>
        </p:spPr>
        <p:txBody>
          <a:bodyPr wrap="square" lIns="1616" tIns="1616" rIns="1616" bIns="1616" rtlCol="0" anchor="t">
            <a:normAutofit/>
          </a:bodyPr>
          <a:lstStyle/>
          <a:p>
            <a:pPr indent="0" marL="0">
              <a:buNone/>
            </a:pPr>
            <a:r>
              <a:rPr lang="en-US" sz="194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Kullanılan altyapıyı kısa ve teknik yazın:</a:t>
            </a:r>
            <a:endParaRPr lang="en-US" sz="1944" dirty="0"/>
          </a:p>
          <a:p>
            <a:pPr indent="0" marL="0">
              <a:buNone/>
            </a:pPr>
            <a:r>
              <a:rPr lang="en-US" sz="194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Elektroliz testi / yakıt hücresi testi</a:t>
            </a:r>
            <a:endParaRPr lang="en-US" sz="1944" dirty="0"/>
          </a:p>
          <a:p>
            <a:pPr indent="0" marL="0">
              <a:buNone/>
            </a:pPr>
            <a:r>
              <a:rPr lang="en-US" sz="194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GC/MS, SEM/TEM, EIS veya diğer analizler</a:t>
            </a:r>
            <a:endParaRPr lang="en-US" sz="1944" dirty="0"/>
          </a:p>
          <a:p>
            <a:pPr indent="0" marL="0">
              <a:buNone/>
            </a:pPr>
            <a:r>
              <a:rPr lang="en-US" sz="194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Modelleme varsayımları ve sınır koşulları</a:t>
            </a:r>
            <a:endParaRPr lang="en-US" sz="1944" dirty="0"/>
          </a:p>
          <a:p>
            <a:pPr indent="0" marL="0">
              <a:buNone/>
            </a:pPr>
            <a:r>
              <a:rPr lang="en-US" sz="194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Performans metrikleri: verim, güç yoğunluğu, maliyet, emisyon, dayanım vb.</a:t>
            </a:r>
            <a:endParaRPr lang="en-US" sz="1944" dirty="0"/>
          </a:p>
        </p:txBody>
      </p:sp>
      <p:sp>
        <p:nvSpPr>
          <p:cNvPr id="35" name="Text 28"/>
          <p:cNvSpPr/>
          <p:nvPr/>
        </p:nvSpPr>
        <p:spPr>
          <a:xfrm>
            <a:off x="5255553" y="13609782"/>
            <a:ext cx="4609007" cy="374996"/>
          </a:xfrm>
          <a:prstGeom prst="rect">
            <a:avLst/>
          </a:prstGeom>
          <a:solidFill>
            <a:srgbClr val="0B2842"/>
          </a:solidFill>
          <a:ln>
            <a:solidFill>
              <a:srgbClr val="0B2842">
                <a:alpha val="0"/>
              </a:srgbClr>
            </a:solidFill>
          </a:ln>
        </p:spPr>
        <p:txBody>
          <a:bodyPr wrap="square" lIns="1167" tIns="1167" rIns="1167" bIns="1167" rtlCol="0" anchor="ctr">
            <a:normAutofit/>
          </a:bodyPr>
          <a:lstStyle/>
          <a:p>
            <a:pPr algn="l" indent="0" marL="0">
              <a:buNone/>
            </a:pPr>
            <a:r>
              <a:rPr lang="en-US" sz="212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SINIRLILIKLAR &amp; BELİRSİZLİKLER</a:t>
            </a:r>
            <a:endParaRPr lang="en-US" sz="2121" dirty="0"/>
          </a:p>
        </p:txBody>
      </p:sp>
      <p:sp>
        <p:nvSpPr>
          <p:cNvPr id="36" name="Text 29"/>
          <p:cNvSpPr/>
          <p:nvPr/>
        </p:nvSpPr>
        <p:spPr>
          <a:xfrm>
            <a:off x="5255553" y="14023571"/>
            <a:ext cx="4609007" cy="3174538"/>
          </a:xfrm>
          <a:prstGeom prst="rect">
            <a:avLst/>
          </a:prstGeom>
          <a:solidFill>
            <a:srgbClr val="FFFFFF"/>
          </a:solidFill>
          <a:ln w="9878">
            <a:solidFill>
              <a:srgbClr val="B9D7E5"/>
            </a:solidFill>
          </a:ln>
        </p:spPr>
        <p:txBody>
          <a:bodyPr wrap="square" lIns="1616" tIns="1616" rIns="1616" bIns="1616" rtlCol="0" anchor="t">
            <a:normAutofit/>
          </a:bodyPr>
          <a:lstStyle/>
          <a:p>
            <a:pPr indent="0" marL="0">
              <a:buNone/>
            </a:pPr>
            <a:r>
              <a:rPr lang="en-US" sz="194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Kabul edilebilir belirsizlikleri açıkça belirtin. Örneğin:</a:t>
            </a:r>
            <a:endParaRPr lang="en-US" sz="1944" dirty="0"/>
          </a:p>
          <a:p>
            <a:pPr indent="0" marL="0">
              <a:buNone/>
            </a:pPr>
            <a:r>
              <a:rPr lang="en-US" sz="194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Ölçüm belirsizliği</a:t>
            </a:r>
            <a:endParaRPr lang="en-US" sz="1944" dirty="0"/>
          </a:p>
          <a:p>
            <a:pPr indent="0" marL="0">
              <a:buNone/>
            </a:pPr>
            <a:r>
              <a:rPr lang="en-US" sz="194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Numune sayısı / veri kapsamı</a:t>
            </a:r>
            <a:endParaRPr lang="en-US" sz="1944" dirty="0"/>
          </a:p>
          <a:p>
            <a:pPr indent="0" marL="0">
              <a:buNone/>
            </a:pPr>
            <a:r>
              <a:rPr lang="en-US" sz="194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varsayımları</a:t>
            </a:r>
            <a:endParaRPr lang="en-US" sz="1944" dirty="0"/>
          </a:p>
          <a:p>
            <a:pPr indent="0" marL="0">
              <a:buNone/>
            </a:pPr>
            <a:r>
              <a:rPr lang="en-US" sz="194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Ölçek büyütme riskleri</a:t>
            </a:r>
            <a:endParaRPr lang="en-US" sz="1944" dirty="0"/>
          </a:p>
          <a:p>
            <a:pPr indent="0" marL="0">
              <a:buNone/>
            </a:pPr>
            <a:endParaRPr lang="en-US" sz="1944" dirty="0"/>
          </a:p>
          <a:p>
            <a:pPr indent="0" marL="0">
              <a:buNone/>
            </a:pPr>
            <a:r>
              <a:rPr lang="en-US" sz="194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bölüm çalışmayı zayıflatmaz; teknik güvenilirliği artırır.</a:t>
            </a:r>
            <a:endParaRPr lang="en-US" sz="1944" dirty="0"/>
          </a:p>
        </p:txBody>
      </p:sp>
      <p:sp>
        <p:nvSpPr>
          <p:cNvPr id="37" name="Text 30"/>
          <p:cNvSpPr/>
          <p:nvPr/>
        </p:nvSpPr>
        <p:spPr>
          <a:xfrm>
            <a:off x="10090851" y="4040909"/>
            <a:ext cx="4609007" cy="374996"/>
          </a:xfrm>
          <a:prstGeom prst="rect">
            <a:avLst/>
          </a:prstGeom>
          <a:solidFill>
            <a:srgbClr val="0B2842"/>
          </a:solidFill>
          <a:ln>
            <a:solidFill>
              <a:srgbClr val="0B2842">
                <a:alpha val="0"/>
              </a:srgbClr>
            </a:solidFill>
          </a:ln>
        </p:spPr>
        <p:txBody>
          <a:bodyPr wrap="square" lIns="1167" tIns="1167" rIns="1167" bIns="1167" rtlCol="0" anchor="ctr">
            <a:normAutofit/>
          </a:bodyPr>
          <a:lstStyle/>
          <a:p>
            <a:pPr algn="l" indent="0" marL="0">
              <a:buNone/>
            </a:pPr>
            <a:r>
              <a:rPr lang="en-US" sz="212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BULGULAR &amp; TARTIŞMA</a:t>
            </a:r>
            <a:endParaRPr lang="en-US" sz="2121" dirty="0"/>
          </a:p>
        </p:txBody>
      </p:sp>
      <p:sp>
        <p:nvSpPr>
          <p:cNvPr id="38" name="Text 31"/>
          <p:cNvSpPr/>
          <p:nvPr/>
        </p:nvSpPr>
        <p:spPr>
          <a:xfrm>
            <a:off x="10090851" y="4454698"/>
            <a:ext cx="4609007" cy="743527"/>
          </a:xfrm>
          <a:prstGeom prst="rect">
            <a:avLst/>
          </a:prstGeom>
          <a:solidFill>
            <a:srgbClr val="FFFFFF"/>
          </a:solidFill>
          <a:ln w="9878">
            <a:solidFill>
              <a:srgbClr val="B9D7E5"/>
            </a:solidFill>
          </a:ln>
        </p:spPr>
        <p:txBody>
          <a:bodyPr wrap="square" lIns="1616" tIns="1616" rIns="1616" bIns="1616" rtlCol="0" anchor="t">
            <a:normAutofit/>
          </a:bodyPr>
          <a:lstStyle/>
          <a:p>
            <a:pPr indent="0" marL="0">
              <a:buNone/>
            </a:pPr>
            <a:r>
              <a:rPr lang="en-US" sz="187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sonuçları büyük grafik / tablo ile gösterin. Metni azaltın; veriyi büyütün. Literatürle karşılaştırmayı ve hidrojen teknolojilerine etkisini net yazın.</a:t>
            </a:r>
            <a:endParaRPr lang="en-US" sz="1874" dirty="0"/>
          </a:p>
        </p:txBody>
      </p:sp>
      <p:pic>
        <p:nvPicPr>
          <p:cNvPr id="39" name="Image 5" descr="/mnt/data/poster_assets/ppt/media/image1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4814" y="5495011"/>
            <a:ext cx="4221080" cy="424258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0090851" y="9963265"/>
            <a:ext cx="4609007" cy="226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1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Grafik / tablo alanı: en güçlü 2-3 bulgu burada yer almalı</a:t>
            </a:r>
            <a:endParaRPr lang="en-US" sz="1131" dirty="0"/>
          </a:p>
        </p:txBody>
      </p:sp>
      <p:sp>
        <p:nvSpPr>
          <p:cNvPr id="41" name="Text 33"/>
          <p:cNvSpPr/>
          <p:nvPr/>
        </p:nvSpPr>
        <p:spPr>
          <a:xfrm>
            <a:off x="10090851" y="10377055"/>
            <a:ext cx="4609007" cy="374996"/>
          </a:xfrm>
          <a:prstGeom prst="rect">
            <a:avLst/>
          </a:prstGeom>
          <a:solidFill>
            <a:srgbClr val="0066CC"/>
          </a:solidFill>
          <a:ln>
            <a:solidFill>
              <a:srgbClr val="0066CC">
                <a:alpha val="0"/>
              </a:srgbClr>
            </a:solidFill>
          </a:ln>
        </p:spPr>
        <p:txBody>
          <a:bodyPr wrap="square" lIns="1167" tIns="1167" rIns="1167" bIns="1167" rtlCol="0" anchor="ctr">
            <a:normAutofit/>
          </a:bodyPr>
          <a:lstStyle/>
          <a:p>
            <a:pPr algn="l" indent="0" marL="0">
              <a:buNone/>
            </a:pPr>
            <a:r>
              <a:rPr lang="en-US" sz="212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SONUÇLAR</a:t>
            </a:r>
            <a:endParaRPr lang="en-US" sz="2121" dirty="0"/>
          </a:p>
        </p:txBody>
      </p:sp>
      <p:sp>
        <p:nvSpPr>
          <p:cNvPr id="42" name="Text 34"/>
          <p:cNvSpPr/>
          <p:nvPr/>
        </p:nvSpPr>
        <p:spPr>
          <a:xfrm>
            <a:off x="10090851" y="10790844"/>
            <a:ext cx="4609007" cy="2883593"/>
          </a:xfrm>
          <a:prstGeom prst="rect">
            <a:avLst/>
          </a:prstGeom>
          <a:solidFill>
            <a:srgbClr val="FFFFFF"/>
          </a:solidFill>
          <a:ln w="9878">
            <a:solidFill>
              <a:srgbClr val="B9D7E5"/>
            </a:solidFill>
          </a:ln>
        </p:spPr>
        <p:txBody>
          <a:bodyPr wrap="square" lIns="1616" tIns="1616" rIns="1616" bIns="1616" rtlCol="0" anchor="t">
            <a:normAutofit/>
          </a:bodyPr>
          <a:lstStyle/>
          <a:p>
            <a:pPr indent="0" marL="0">
              <a:buNone/>
            </a:pPr>
            <a:r>
              <a:rPr lang="en-US" sz="1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Bulguların 3 ana sonucunu yazın.</a:t>
            </a:r>
            <a:endParaRPr lang="en-US" sz="1980" dirty="0"/>
          </a:p>
          <a:p>
            <a:pPr indent="0" marL="0">
              <a:buNone/>
            </a:pPr>
            <a:r>
              <a:rPr lang="en-US" sz="1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Literatüre göre farkı / katkıyı belirtin.</a:t>
            </a:r>
            <a:endParaRPr lang="en-US" sz="1980" dirty="0"/>
          </a:p>
          <a:p>
            <a:pPr indent="0" marL="0">
              <a:buNone/>
            </a:pPr>
            <a:r>
              <a:rPr lang="en-US" sz="1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Uygulama potansiyelini ve ölçeklenebilirlik etkisini vurgulayın.</a:t>
            </a:r>
            <a:endParaRPr lang="en-US" sz="1980" dirty="0"/>
          </a:p>
          <a:p>
            <a:pPr indent="0" marL="0">
              <a:buNone/>
            </a:pPr>
            <a:r>
              <a:rPr lang="en-US" sz="1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Sonraki deney veya analiz adımını ekleyin.</a:t>
            </a:r>
            <a:endParaRPr lang="en-US" sz="1980" dirty="0"/>
          </a:p>
        </p:txBody>
      </p:sp>
      <p:sp>
        <p:nvSpPr>
          <p:cNvPr id="43" name="Text 35"/>
          <p:cNvSpPr/>
          <p:nvPr/>
        </p:nvSpPr>
        <p:spPr>
          <a:xfrm>
            <a:off x="10090851" y="13868400"/>
            <a:ext cx="4609007" cy="374996"/>
          </a:xfrm>
          <a:prstGeom prst="rect">
            <a:avLst/>
          </a:prstGeom>
          <a:solidFill>
            <a:srgbClr val="0086A8"/>
          </a:solidFill>
          <a:ln>
            <a:solidFill>
              <a:srgbClr val="0086A8">
                <a:alpha val="0"/>
              </a:srgbClr>
            </a:solidFill>
          </a:ln>
        </p:spPr>
        <p:txBody>
          <a:bodyPr wrap="square" lIns="1167" tIns="1167" rIns="1167" bIns="1167" rtlCol="0" anchor="ctr">
            <a:normAutofit/>
          </a:bodyPr>
          <a:lstStyle/>
          <a:p>
            <a:pPr algn="l" indent="0" marL="0">
              <a:buNone/>
            </a:pPr>
            <a:r>
              <a:rPr lang="en-US" sz="212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UYGULAMA ETKİSİ</a:t>
            </a:r>
            <a:endParaRPr lang="en-US" sz="2121" dirty="0"/>
          </a:p>
        </p:txBody>
      </p:sp>
      <p:sp>
        <p:nvSpPr>
          <p:cNvPr id="44" name="Text 36"/>
          <p:cNvSpPr/>
          <p:nvPr/>
        </p:nvSpPr>
        <p:spPr>
          <a:xfrm>
            <a:off x="10090851" y="14282189"/>
            <a:ext cx="4609007" cy="2915920"/>
          </a:xfrm>
          <a:prstGeom prst="rect">
            <a:avLst/>
          </a:prstGeom>
          <a:solidFill>
            <a:srgbClr val="FFFFFF"/>
          </a:solidFill>
          <a:ln w="9878">
            <a:solidFill>
              <a:srgbClr val="B9D7E5"/>
            </a:solidFill>
          </a:ln>
        </p:spPr>
        <p:txBody>
          <a:bodyPr wrap="square" lIns="1616" tIns="1616" rIns="1616" bIns="1616" rtlCol="0" anchor="t">
            <a:normAutofit/>
          </a:bodyPr>
          <a:lstStyle/>
          <a:p>
            <a:pPr indent="0" marL="0">
              <a:buNone/>
            </a:pPr>
            <a:r>
              <a:rPr lang="en-US" sz="194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çalışmanın hidrojen ekosistemine etkisini tek paragrafta özetleyin:</a:t>
            </a:r>
            <a:endParaRPr lang="en-US" sz="1944" dirty="0"/>
          </a:p>
          <a:p>
            <a:pPr indent="0" marL="0">
              <a:buNone/>
            </a:pPr>
            <a:endParaRPr lang="en-US" sz="1944" dirty="0"/>
          </a:p>
          <a:p>
            <a:pPr indent="0" marL="0">
              <a:buNone/>
            </a:pPr>
            <a:r>
              <a:rPr lang="en-US" sz="194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Endüstri, enerji sistemleri, karbon azaltımı, güvenlik, standartlar, maliyet veya verimlilik açısından hangi sorunu çözmeye yaklaşıyor?</a:t>
            </a:r>
            <a:endParaRPr lang="en-US" sz="1944" dirty="0"/>
          </a:p>
        </p:txBody>
      </p:sp>
      <p:sp>
        <p:nvSpPr>
          <p:cNvPr id="45" name="Text 37"/>
          <p:cNvSpPr/>
          <p:nvPr/>
        </p:nvSpPr>
        <p:spPr>
          <a:xfrm>
            <a:off x="420255" y="17683018"/>
            <a:ext cx="14288655" cy="678873"/>
          </a:xfrm>
          <a:prstGeom prst="rect">
            <a:avLst/>
          </a:prstGeom>
          <a:solidFill>
            <a:srgbClr val="0066CC"/>
          </a:solidFill>
          <a:ln>
            <a:solidFill>
              <a:srgbClr val="0066CC">
                <a:alpha val="0"/>
              </a:srgbClr>
            </a:solidFill>
          </a:ln>
        </p:spPr>
        <p:txBody>
          <a:bodyPr wrap="square" lIns="1616" tIns="1616" rIns="1616" bIns="1616" rtlCol="0" anchor="ctr">
            <a:normAutofit/>
          </a:bodyPr>
          <a:lstStyle/>
          <a:p>
            <a:pPr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CÜMLELİK ÖZET  </a:t>
            </a:r>
            <a:pPr indent="0" marL="0">
              <a:buNone/>
            </a:pPr>
            <a:r>
              <a:rPr lang="en-US" sz="19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Posterinizin ana mesajını burada 1 cümlede verin: “Bu çalışma, … sayesinde … alanında ölçülebilir bir katkı sunmaktadır.”</a:t>
            </a:r>
            <a:endParaRPr lang="en-US" sz="1980" dirty="0"/>
          </a:p>
        </p:txBody>
      </p:sp>
      <p:sp>
        <p:nvSpPr>
          <p:cNvPr id="46" name="Text 38"/>
          <p:cNvSpPr/>
          <p:nvPr/>
        </p:nvSpPr>
        <p:spPr>
          <a:xfrm>
            <a:off x="420255" y="18478269"/>
            <a:ext cx="14288655" cy="530167"/>
          </a:xfrm>
          <a:prstGeom prst="rect">
            <a:avLst/>
          </a:prstGeom>
          <a:solidFill>
            <a:srgbClr val="EAF7FB"/>
          </a:solidFill>
          <a:ln w="8980">
            <a:solidFill>
              <a:srgbClr val="B9D7E5"/>
            </a:solidFill>
          </a:ln>
        </p:spPr>
        <p:txBody>
          <a:bodyPr wrap="square" lIns="1257" tIns="1257" rIns="1257" bIns="1257" rtlCol="0" anchor="ctr">
            <a:normAutofit/>
          </a:bodyPr>
          <a:lstStyle/>
          <a:p>
            <a:pPr algn="ctr" indent="0" marL="0">
              <a:buNone/>
            </a:pPr>
            <a:r>
              <a:rPr lang="en-US" sz="1697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Hızlı kontrol: Başlık kısa mı?  ·  Amaç net mi?  ·  Yöntem 10 saniyede anlaşılıyor mu?  ·  En az bir grafik/tablo var mı?  ·  Sonuç özgün katkıya bağlanıyor mu?</a:t>
            </a:r>
            <a:endParaRPr lang="en-US" sz="1697" dirty="0"/>
          </a:p>
        </p:txBody>
      </p:sp>
      <p:sp>
        <p:nvSpPr>
          <p:cNvPr id="47" name="Shape 39"/>
          <p:cNvSpPr/>
          <p:nvPr/>
        </p:nvSpPr>
        <p:spPr>
          <a:xfrm>
            <a:off x="0" y="19784291"/>
            <a:ext cx="15120112" cy="1622829"/>
          </a:xfrm>
          <a:prstGeom prst="rect">
            <a:avLst/>
          </a:prstGeom>
          <a:solidFill>
            <a:srgbClr val="061A2D"/>
          </a:solidFill>
          <a:ln w="8980">
            <a:solidFill>
              <a:srgbClr val="061A2D">
                <a:alpha val="0"/>
              </a:srgbClr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0" y="19732567"/>
            <a:ext cx="15120112" cy="51724"/>
          </a:xfrm>
          <a:prstGeom prst="rect">
            <a:avLst/>
          </a:prstGeom>
          <a:solidFill>
            <a:srgbClr val="00C8FF"/>
          </a:solidFill>
          <a:ln w="8980">
            <a:solidFill>
              <a:srgbClr val="00C8FF">
                <a:alpha val="0"/>
              </a:srgbClr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517236" y="19939462"/>
            <a:ext cx="1551709" cy="226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3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KAYNAKÇA</a:t>
            </a:r>
            <a:endParaRPr lang="en-US" sz="1273" dirty="0"/>
          </a:p>
        </p:txBody>
      </p:sp>
      <p:sp>
        <p:nvSpPr>
          <p:cNvPr id="50" name="Text 42"/>
          <p:cNvSpPr/>
          <p:nvPr/>
        </p:nvSpPr>
        <p:spPr>
          <a:xfrm>
            <a:off x="517236" y="20198080"/>
            <a:ext cx="6465455" cy="614218"/>
          </a:xfrm>
          <a:prstGeom prst="rect">
            <a:avLst/>
          </a:prstGeom>
          <a:noFill/>
          <a:ln/>
        </p:spPr>
        <p:txBody>
          <a:bodyPr wrap="square" lIns="180" tIns="180" rIns="180" bIns="180" rtlCol="0" anchor="ctr">
            <a:normAutofit/>
          </a:bodyPr>
          <a:lstStyle/>
          <a:p>
            <a:pPr indent="0" marL="0">
              <a:buNone/>
            </a:pPr>
            <a:r>
              <a:rPr lang="en-US" sz="1414" dirty="0">
                <a:solidFill>
                  <a:srgbClr val="D7E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Yazar, “Makale başlığı,” Dergi, yıl.  [2] Yazar, Rapor başlığı, kurum, yıl.  [3] Standart / veri kaynağı.</a:t>
            </a:r>
            <a:endParaRPr lang="en-US" sz="1414" dirty="0"/>
          </a:p>
        </p:txBody>
      </p:sp>
      <p:sp>
        <p:nvSpPr>
          <p:cNvPr id="51" name="Text 43"/>
          <p:cNvSpPr/>
          <p:nvPr/>
        </p:nvSpPr>
        <p:spPr>
          <a:xfrm>
            <a:off x="7208982" y="19939462"/>
            <a:ext cx="1293091" cy="226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3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TEŞEKKÜR</a:t>
            </a:r>
            <a:endParaRPr lang="en-US" sz="1273" dirty="0"/>
          </a:p>
        </p:txBody>
      </p:sp>
      <p:sp>
        <p:nvSpPr>
          <p:cNvPr id="52" name="Text 44"/>
          <p:cNvSpPr/>
          <p:nvPr/>
        </p:nvSpPr>
        <p:spPr>
          <a:xfrm>
            <a:off x="7208982" y="20198080"/>
            <a:ext cx="3232727" cy="614218"/>
          </a:xfrm>
          <a:prstGeom prst="rect">
            <a:avLst/>
          </a:prstGeom>
          <a:noFill/>
          <a:ln/>
        </p:spPr>
        <p:txBody>
          <a:bodyPr wrap="square" lIns="180" tIns="180" rIns="180" bIns="180" rtlCol="0" anchor="ctr">
            <a:normAutofit/>
          </a:bodyPr>
          <a:lstStyle/>
          <a:p>
            <a:pPr indent="0" marL="0">
              <a:buNone/>
            </a:pPr>
            <a:r>
              <a:rPr lang="en-US" sz="1414" dirty="0">
                <a:solidFill>
                  <a:srgbClr val="D7E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Fon, proje, laboratuvar, kurum ve işbirliği desteklerini kısa ve profesyonel biçimde yazın.</a:t>
            </a:r>
            <a:endParaRPr lang="en-US" sz="1414" dirty="0"/>
          </a:p>
        </p:txBody>
      </p:sp>
      <p:sp>
        <p:nvSpPr>
          <p:cNvPr id="53" name="Text 45"/>
          <p:cNvSpPr/>
          <p:nvPr/>
        </p:nvSpPr>
        <p:spPr>
          <a:xfrm>
            <a:off x="10668000" y="19939462"/>
            <a:ext cx="1293091" cy="226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3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İLETİŞİM</a:t>
            </a:r>
            <a:endParaRPr lang="en-US" sz="1273" dirty="0"/>
          </a:p>
        </p:txBody>
      </p:sp>
      <p:sp>
        <p:nvSpPr>
          <p:cNvPr id="54" name="Text 46"/>
          <p:cNvSpPr/>
          <p:nvPr/>
        </p:nvSpPr>
        <p:spPr>
          <a:xfrm>
            <a:off x="10668000" y="20198080"/>
            <a:ext cx="2198255" cy="614218"/>
          </a:xfrm>
          <a:prstGeom prst="rect">
            <a:avLst/>
          </a:prstGeom>
          <a:noFill/>
          <a:ln/>
        </p:spPr>
        <p:txBody>
          <a:bodyPr wrap="square" lIns="180" tIns="180" rIns="180" bIns="180" rtlCol="0" anchor="ctr">
            <a:normAutofit/>
          </a:bodyPr>
          <a:lstStyle/>
          <a:p>
            <a:pPr indent="0" marL="0">
              <a:buNone/>
            </a:pPr>
            <a:r>
              <a:rPr lang="en-US" sz="1414" dirty="0">
                <a:solidFill>
                  <a:srgbClr val="D7E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e-posta · kurum · LinkedIn</a:t>
            </a:r>
            <a:endParaRPr lang="en-US" sz="1414" dirty="0"/>
          </a:p>
          <a:p>
            <a:pPr indent="0" marL="0">
              <a:buNone/>
            </a:pPr>
            <a:r>
              <a:rPr lang="en-US" sz="1414" dirty="0">
                <a:solidFill>
                  <a:srgbClr val="D7E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QR: tam metin / proje sayfası</a:t>
            </a:r>
            <a:endParaRPr lang="en-US" sz="1414" dirty="0"/>
          </a:p>
        </p:txBody>
      </p:sp>
      <p:sp>
        <p:nvSpPr>
          <p:cNvPr id="55" name="Text 47"/>
          <p:cNvSpPr/>
          <p:nvPr/>
        </p:nvSpPr>
        <p:spPr>
          <a:xfrm>
            <a:off x="13480473" y="19926531"/>
            <a:ext cx="1002145" cy="1002145"/>
          </a:xfrm>
          <a:prstGeom prst="rect">
            <a:avLst/>
          </a:prstGeom>
          <a:solidFill>
            <a:srgbClr val="0A2238"/>
          </a:solidFill>
          <a:ln w="10776">
            <a:solidFill>
              <a:srgbClr val="00C8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63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2263" dirty="0"/>
          </a:p>
        </p:txBody>
      </p:sp>
      <p:sp>
        <p:nvSpPr>
          <p:cNvPr id="56" name="Text 48"/>
          <p:cNvSpPr/>
          <p:nvPr/>
        </p:nvSpPr>
        <p:spPr>
          <a:xfrm>
            <a:off x="12963236" y="20980400"/>
            <a:ext cx="1681018" cy="161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A7D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#TürkiyeHidrojenZirvesi</a:t>
            </a:r>
            <a:endParaRPr lang="en-US" sz="9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Türkiye Hidrojen Zirvesi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Türkiye Hidrojen Zirvesi 2026 Poster Şablonu</dc:title>
  <dc:subject>Türkiye Hidrojen Zirvesi 2026 A1 Poster Şablonu</dc:subject>
  <dc:creator>OpenAI</dc:creator>
  <cp:lastModifiedBy>OpenAI</cp:lastModifiedBy>
  <cp:revision>1</cp:revision>
  <dcterms:created xsi:type="dcterms:W3CDTF">2026-06-24T09:20:18Z</dcterms:created>
  <dcterms:modified xsi:type="dcterms:W3CDTF">2026-06-24T09:20:18Z</dcterms:modified>
</cp:coreProperties>
</file>